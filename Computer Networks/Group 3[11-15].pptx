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1430000" cy="6489700"/>
  <p:notesSz cx="11430000" cy="6489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46BC5-C21E-40BD-965D-75A743481F8D}" v="12" dt="2025-10-26T07:51:30.30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62" y="-1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3157B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26-Oct-25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3157B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26-Oct-25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3157B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26-Oct-25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3157B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26-Oct-25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26-Oct-25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7466" y="437927"/>
            <a:ext cx="10215067" cy="490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3157B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8199" y="2082945"/>
            <a:ext cx="10273665" cy="3723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26-Oct-25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207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>
              <a:alpha val="8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1000" y="468661"/>
            <a:ext cx="6191885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60" dirty="0">
                <a:solidFill>
                  <a:schemeClr val="tx1"/>
                </a:solidFill>
                <a:latin typeface="Cambria"/>
                <a:cs typeface="Cambria"/>
              </a:rPr>
              <a:t>Department</a:t>
            </a:r>
            <a:r>
              <a:rPr sz="1500" spc="7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1500" spc="55" dirty="0">
                <a:solidFill>
                  <a:schemeClr val="tx1"/>
                </a:solidFill>
                <a:latin typeface="Cambria"/>
                <a:cs typeface="Cambria"/>
              </a:rPr>
              <a:t>of</a:t>
            </a:r>
            <a:r>
              <a:rPr sz="1500" spc="7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1500" spc="114" dirty="0">
                <a:solidFill>
                  <a:schemeClr val="tx1"/>
                </a:solidFill>
                <a:latin typeface="Cambria"/>
                <a:cs typeface="Cambria"/>
              </a:rPr>
              <a:t>CSE</a:t>
            </a:r>
            <a:r>
              <a:rPr sz="1500" spc="7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1500" spc="-145" dirty="0">
                <a:solidFill>
                  <a:schemeClr val="tx1"/>
                </a:solidFill>
                <a:latin typeface="Cambria"/>
                <a:cs typeface="Cambria"/>
              </a:rPr>
              <a:t>|</a:t>
            </a:r>
            <a:r>
              <a:rPr sz="1500" spc="7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chemeClr val="tx1"/>
                </a:solidFill>
                <a:latin typeface="Cambria"/>
                <a:cs typeface="Cambria"/>
              </a:rPr>
              <a:t>Course:</a:t>
            </a:r>
            <a:r>
              <a:rPr sz="1500" spc="7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1500" spc="114" dirty="0">
                <a:solidFill>
                  <a:schemeClr val="tx1"/>
                </a:solidFill>
                <a:latin typeface="Cambria"/>
                <a:cs typeface="Cambria"/>
              </a:rPr>
              <a:t>CSE</a:t>
            </a:r>
            <a:r>
              <a:rPr sz="1500" spc="7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chemeClr val="tx1"/>
                </a:solidFill>
                <a:latin typeface="Cambria"/>
                <a:cs typeface="Cambria"/>
              </a:rPr>
              <a:t>4104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3738" y="1158971"/>
            <a:ext cx="9402445" cy="1927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7650"/>
              </a:lnSpc>
            </a:pPr>
            <a:r>
              <a:rPr sz="6100" spc="330" dirty="0"/>
              <a:t>Understanding</a:t>
            </a:r>
            <a:r>
              <a:rPr sz="6100" spc="195" dirty="0"/>
              <a:t> </a:t>
            </a:r>
            <a:r>
              <a:rPr sz="6100" spc="305" dirty="0"/>
              <a:t>Static</a:t>
            </a:r>
            <a:r>
              <a:rPr sz="6100" spc="195" dirty="0"/>
              <a:t> </a:t>
            </a:r>
            <a:r>
              <a:rPr sz="6100" spc="360" dirty="0"/>
              <a:t>and </a:t>
            </a:r>
            <a:r>
              <a:rPr sz="6100" spc="415" dirty="0"/>
              <a:t>Dynamic</a:t>
            </a:r>
            <a:r>
              <a:rPr sz="6100" spc="190" dirty="0"/>
              <a:t> </a:t>
            </a:r>
            <a:r>
              <a:rPr sz="6100" spc="285" dirty="0"/>
              <a:t>Routing</a:t>
            </a:r>
            <a:r>
              <a:rPr sz="6100" spc="195" dirty="0"/>
              <a:t> </a:t>
            </a:r>
            <a:r>
              <a:rPr sz="6100" spc="-10" dirty="0"/>
              <a:t>(RIP)</a:t>
            </a:r>
            <a:endParaRPr sz="6100" dirty="0"/>
          </a:p>
        </p:txBody>
      </p:sp>
      <p:sp>
        <p:nvSpPr>
          <p:cNvPr id="5" name="object 5"/>
          <p:cNvSpPr txBox="1"/>
          <p:nvPr/>
        </p:nvSpPr>
        <p:spPr>
          <a:xfrm>
            <a:off x="607466" y="3402869"/>
            <a:ext cx="813371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105" dirty="0">
                <a:solidFill>
                  <a:srgbClr val="3157B7"/>
                </a:solidFill>
                <a:latin typeface="Cambria"/>
                <a:cs typeface="Cambria"/>
              </a:rPr>
              <a:t>In</a:t>
            </a:r>
            <a:r>
              <a:rPr sz="1800" spc="7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130" dirty="0">
                <a:solidFill>
                  <a:srgbClr val="3157B7"/>
                </a:solidFill>
                <a:latin typeface="Cambria"/>
                <a:cs typeface="Cambria"/>
              </a:rPr>
              <a:t>Campus</a:t>
            </a:r>
            <a:r>
              <a:rPr sz="1800" spc="7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3157B7"/>
                </a:solidFill>
                <a:latin typeface="Cambria"/>
                <a:cs typeface="Cambria"/>
              </a:rPr>
              <a:t>Networks:</a:t>
            </a:r>
            <a:r>
              <a:rPr sz="1800" spc="7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3157B7"/>
                </a:solidFill>
                <a:latin typeface="Cambria"/>
                <a:cs typeface="Cambria"/>
              </a:rPr>
              <a:t>Ethical,</a:t>
            </a:r>
            <a:r>
              <a:rPr sz="1800" spc="7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3157B7"/>
                </a:solidFill>
                <a:latin typeface="Cambria"/>
                <a:cs typeface="Cambria"/>
              </a:rPr>
              <a:t>Societal,</a:t>
            </a:r>
            <a:r>
              <a:rPr sz="1800" spc="7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130" dirty="0">
                <a:solidFill>
                  <a:srgbClr val="3157B7"/>
                </a:solidFill>
                <a:latin typeface="Cambria"/>
                <a:cs typeface="Cambria"/>
              </a:rPr>
              <a:t>and</a:t>
            </a:r>
            <a:r>
              <a:rPr sz="1800" spc="7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3157B7"/>
                </a:solidFill>
                <a:latin typeface="Cambria"/>
                <a:cs typeface="Cambria"/>
              </a:rPr>
              <a:t>Environmental</a:t>
            </a:r>
            <a:r>
              <a:rPr sz="1800" spc="7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3157B7"/>
                </a:solidFill>
                <a:latin typeface="Cambria"/>
                <a:cs typeface="Cambria"/>
              </a:rPr>
              <a:t>Considerations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466" y="4202018"/>
            <a:ext cx="975360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Presented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15203F"/>
                </a:solidFill>
                <a:latin typeface="Roboto"/>
                <a:cs typeface="Roboto"/>
              </a:rPr>
              <a:t>By</a:t>
            </a:r>
            <a:r>
              <a:rPr lang="en-US" sz="1200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15203F"/>
                </a:solidFill>
                <a:latin typeface="Roboto"/>
                <a:cs typeface="Roboto"/>
              </a:rPr>
              <a:t>-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7800" y="4819473"/>
            <a:ext cx="1602334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Zabed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Iqbal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10" dirty="0">
                <a:solidFill>
                  <a:srgbClr val="15203F"/>
                </a:solidFill>
                <a:latin typeface="Roboto"/>
                <a:cs typeface="Roboto"/>
              </a:rPr>
              <a:t>-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2003011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9822" y="5084809"/>
            <a:ext cx="193484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Moloy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Kumar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55" dirty="0">
                <a:solidFill>
                  <a:srgbClr val="15203F"/>
                </a:solidFill>
                <a:latin typeface="Roboto"/>
                <a:cs typeface="Roboto"/>
              </a:rPr>
              <a:t>Das-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2003012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7520" y="5361544"/>
            <a:ext cx="1872614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Rezwana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3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iddika-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2003013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8900" y="4834524"/>
            <a:ext cx="2404745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Shihab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Sarar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Islam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Rafid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15" dirty="0">
                <a:solidFill>
                  <a:srgbClr val="15203F"/>
                </a:solidFill>
                <a:latin typeface="Roboto"/>
                <a:cs typeface="Roboto"/>
              </a:rPr>
              <a:t>-</a:t>
            </a:r>
            <a:r>
              <a:rPr lang="en-US" sz="1200" spc="-215" dirty="0">
                <a:solidFill>
                  <a:srgbClr val="15203F"/>
                </a:solidFill>
                <a:latin typeface="Roboto"/>
                <a:cs typeface="Roboto"/>
              </a:rPr>
              <a:t>   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2003014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3600" y="5119275"/>
            <a:ext cx="163004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Naim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Parvez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10" dirty="0">
                <a:solidFill>
                  <a:srgbClr val="15203F"/>
                </a:solidFill>
                <a:latin typeface="Roboto"/>
                <a:cs typeface="Roboto"/>
              </a:rPr>
              <a:t>-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2003015</a:t>
            </a:r>
            <a:endParaRPr sz="12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1263650"/>
            <a:ext cx="7162800" cy="4343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4800" y="1585156"/>
            <a:ext cx="5871845" cy="83253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0"/>
              </a:spcBef>
            </a:pPr>
            <a:r>
              <a:rPr sz="3050" spc="145" dirty="0"/>
              <a:t>Network</a:t>
            </a:r>
            <a:r>
              <a:rPr sz="3050" spc="90" dirty="0"/>
              <a:t> </a:t>
            </a:r>
            <a:r>
              <a:rPr sz="3050" spc="180" dirty="0"/>
              <a:t>Fundamentals</a:t>
            </a:r>
            <a:r>
              <a:rPr sz="3050" spc="105" dirty="0"/>
              <a:t> </a:t>
            </a:r>
            <a:r>
              <a:rPr sz="3050" spc="55" dirty="0"/>
              <a:t>for</a:t>
            </a:r>
            <a:r>
              <a:rPr sz="3050" spc="110" dirty="0"/>
              <a:t> </a:t>
            </a:r>
            <a:r>
              <a:rPr sz="3050" spc="95" dirty="0"/>
              <a:t>CSE </a:t>
            </a:r>
            <a:r>
              <a:rPr sz="2400" spc="114" dirty="0">
                <a:solidFill>
                  <a:srgbClr val="0070C0"/>
                </a:solidFill>
              </a:rPr>
              <a:t>Routing,</a:t>
            </a:r>
            <a:r>
              <a:rPr sz="2400" spc="95" dirty="0">
                <a:solidFill>
                  <a:srgbClr val="0070C0"/>
                </a:solidFill>
              </a:rPr>
              <a:t> </a:t>
            </a:r>
            <a:r>
              <a:rPr sz="2400" spc="140" dirty="0">
                <a:solidFill>
                  <a:srgbClr val="0070C0"/>
                </a:solidFill>
              </a:rPr>
              <a:t>Ethics,</a:t>
            </a:r>
            <a:r>
              <a:rPr sz="2400" spc="100" dirty="0">
                <a:solidFill>
                  <a:srgbClr val="0070C0"/>
                </a:solidFill>
              </a:rPr>
              <a:t> </a:t>
            </a:r>
            <a:r>
              <a:rPr sz="2400" spc="190" dirty="0">
                <a:solidFill>
                  <a:srgbClr val="0070C0"/>
                </a:solidFill>
              </a:rPr>
              <a:t>and</a:t>
            </a:r>
            <a:r>
              <a:rPr sz="2400" spc="100" dirty="0">
                <a:solidFill>
                  <a:srgbClr val="0070C0"/>
                </a:solidFill>
              </a:rPr>
              <a:t> </a:t>
            </a:r>
            <a:r>
              <a:rPr sz="2400" spc="145" dirty="0">
                <a:solidFill>
                  <a:srgbClr val="0070C0"/>
                </a:solidFill>
              </a:rPr>
              <a:t>Impact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466" y="2809119"/>
            <a:ext cx="5688330" cy="193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Welcome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this deep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dive into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architecture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operational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ethics of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modern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campus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network.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future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Computer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Science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Engineering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professionals, understanding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these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fundamentals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crucial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building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maintaining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reliable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digital</a:t>
            </a:r>
            <a:r>
              <a:rPr sz="1200" spc="-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infrastructures.</a:t>
            </a:r>
            <a:endParaRPr sz="1200">
              <a:latin typeface="Roboto"/>
              <a:cs typeface="Roboto"/>
            </a:endParaRPr>
          </a:p>
          <a:p>
            <a:pPr marL="12700" marR="242570" algn="just">
              <a:lnSpc>
                <a:spcPct val="135400"/>
              </a:lnSpc>
              <a:spcBef>
                <a:spcPts val="135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will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explore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how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data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moves,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ethical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responsibilities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involved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network configuration,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broader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societal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environmental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impact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design choices.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204" dirty="0"/>
              <a:t>What</a:t>
            </a:r>
            <a:r>
              <a:rPr sz="3050" spc="90" dirty="0"/>
              <a:t> </a:t>
            </a:r>
            <a:r>
              <a:rPr sz="3050" spc="160" dirty="0"/>
              <a:t>is</a:t>
            </a:r>
            <a:r>
              <a:rPr sz="3050" spc="90" dirty="0"/>
              <a:t> </a:t>
            </a:r>
            <a:r>
              <a:rPr sz="3050" spc="190" dirty="0"/>
              <a:t>a</a:t>
            </a:r>
            <a:r>
              <a:rPr sz="3050" spc="95" dirty="0"/>
              <a:t> </a:t>
            </a:r>
            <a:r>
              <a:rPr sz="3050" spc="200" dirty="0"/>
              <a:t>Campus</a:t>
            </a:r>
            <a:r>
              <a:rPr sz="3050" spc="90" dirty="0"/>
              <a:t> </a:t>
            </a:r>
            <a:r>
              <a:rPr sz="3050" spc="130" dirty="0"/>
              <a:t>Network?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607466" y="1170819"/>
            <a:ext cx="1020826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campus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serves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digital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backbone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university,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connecting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multiple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buildings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departments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into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one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cohesive,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15203F"/>
                </a:solidFill>
                <a:latin typeface="Roboto"/>
                <a:cs typeface="Roboto"/>
              </a:rPr>
              <a:t>large-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scale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Local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Area Network</a:t>
            </a:r>
            <a:r>
              <a:rPr sz="1200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(LAN)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spanning</a:t>
            </a:r>
            <a:r>
              <a:rPr sz="1200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 specific</a:t>
            </a:r>
            <a:r>
              <a:rPr sz="1200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geographical</a:t>
            </a:r>
            <a:r>
              <a:rPr sz="1200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area, such</a:t>
            </a:r>
            <a:r>
              <a:rPr sz="1200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as a</a:t>
            </a:r>
            <a:r>
              <a:rPr sz="1200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university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campus.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9125" y="1904999"/>
            <a:ext cx="5019675" cy="1514475"/>
            <a:chOff x="619125" y="1904999"/>
            <a:chExt cx="5019675" cy="1514475"/>
          </a:xfrm>
        </p:grpSpPr>
        <p:sp>
          <p:nvSpPr>
            <p:cNvPr id="5" name="object 5"/>
            <p:cNvSpPr/>
            <p:nvPr/>
          </p:nvSpPr>
          <p:spPr>
            <a:xfrm>
              <a:off x="619125" y="1904999"/>
              <a:ext cx="5019675" cy="1514475"/>
            </a:xfrm>
            <a:custGeom>
              <a:avLst/>
              <a:gdLst/>
              <a:ahLst/>
              <a:cxnLst/>
              <a:rect l="l" t="t" r="r" b="b"/>
              <a:pathLst>
                <a:path w="5019675" h="1514475">
                  <a:moveTo>
                    <a:pt x="5002860" y="0"/>
                  </a:moveTo>
                  <a:lnTo>
                    <a:pt x="16812" y="0"/>
                  </a:lnTo>
                  <a:lnTo>
                    <a:pt x="14337" y="495"/>
                  </a:lnTo>
                  <a:lnTo>
                    <a:pt x="0" y="16814"/>
                  </a:lnTo>
                  <a:lnTo>
                    <a:pt x="0" y="1495094"/>
                  </a:lnTo>
                  <a:lnTo>
                    <a:pt x="0" y="1497660"/>
                  </a:lnTo>
                  <a:lnTo>
                    <a:pt x="16812" y="1514475"/>
                  </a:lnTo>
                  <a:lnTo>
                    <a:pt x="5002860" y="1514475"/>
                  </a:lnTo>
                  <a:lnTo>
                    <a:pt x="5019675" y="1497660"/>
                  </a:lnTo>
                  <a:lnTo>
                    <a:pt x="5019675" y="16814"/>
                  </a:lnTo>
                  <a:lnTo>
                    <a:pt x="5005336" y="495"/>
                  </a:lnTo>
                  <a:lnTo>
                    <a:pt x="5002860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524" y="2057400"/>
              <a:ext cx="466724" cy="466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401" y="2176590"/>
              <a:ext cx="160199" cy="21852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2397" y="2660586"/>
            <a:ext cx="4705350" cy="564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110" dirty="0">
                <a:solidFill>
                  <a:srgbClr val="15203F"/>
                </a:solidFill>
                <a:latin typeface="Cambria"/>
                <a:cs typeface="Cambria"/>
              </a:rPr>
              <a:t>Academic</a:t>
            </a:r>
            <a:r>
              <a:rPr sz="1500" spc="70" dirty="0">
                <a:solidFill>
                  <a:srgbClr val="15203F"/>
                </a:solidFill>
                <a:latin typeface="Cambria"/>
                <a:cs typeface="Cambria"/>
              </a:rPr>
              <a:t> Hubs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Connecting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departments like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CSE, EEE,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 Mechanical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Engineering.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91200" y="1904999"/>
            <a:ext cx="5019675" cy="1514475"/>
            <a:chOff x="5791200" y="1904999"/>
            <a:chExt cx="5019675" cy="1514475"/>
          </a:xfrm>
        </p:grpSpPr>
        <p:sp>
          <p:nvSpPr>
            <p:cNvPr id="10" name="object 10"/>
            <p:cNvSpPr/>
            <p:nvPr/>
          </p:nvSpPr>
          <p:spPr>
            <a:xfrm>
              <a:off x="5791200" y="1904999"/>
              <a:ext cx="5019675" cy="1514475"/>
            </a:xfrm>
            <a:custGeom>
              <a:avLst/>
              <a:gdLst/>
              <a:ahLst/>
              <a:cxnLst/>
              <a:rect l="l" t="t" r="r" b="b"/>
              <a:pathLst>
                <a:path w="5019675" h="1514475">
                  <a:moveTo>
                    <a:pt x="5002860" y="0"/>
                  </a:moveTo>
                  <a:lnTo>
                    <a:pt x="16814" y="0"/>
                  </a:lnTo>
                  <a:lnTo>
                    <a:pt x="14338" y="495"/>
                  </a:lnTo>
                  <a:lnTo>
                    <a:pt x="0" y="16814"/>
                  </a:lnTo>
                  <a:lnTo>
                    <a:pt x="0" y="1495094"/>
                  </a:lnTo>
                  <a:lnTo>
                    <a:pt x="0" y="1497660"/>
                  </a:lnTo>
                  <a:lnTo>
                    <a:pt x="16814" y="1514475"/>
                  </a:lnTo>
                  <a:lnTo>
                    <a:pt x="5002860" y="1514475"/>
                  </a:lnTo>
                  <a:lnTo>
                    <a:pt x="5019675" y="1497660"/>
                  </a:lnTo>
                  <a:lnTo>
                    <a:pt x="5019675" y="16814"/>
                  </a:lnTo>
                  <a:lnTo>
                    <a:pt x="5005336" y="495"/>
                  </a:lnTo>
                  <a:lnTo>
                    <a:pt x="5002860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599" y="2057400"/>
              <a:ext cx="466724" cy="466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1264" y="2176590"/>
              <a:ext cx="180616" cy="2185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934621" y="2660586"/>
            <a:ext cx="4244975" cy="564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85" dirty="0">
                <a:solidFill>
                  <a:srgbClr val="15203F"/>
                </a:solidFill>
                <a:latin typeface="Cambria"/>
                <a:cs typeface="Cambria"/>
              </a:rPr>
              <a:t>Administration</a:t>
            </a:r>
            <a:r>
              <a:rPr sz="1500" spc="2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15203F"/>
                </a:solidFill>
                <a:latin typeface="Cambria"/>
                <a:cs typeface="Cambria"/>
              </a:rPr>
              <a:t>&amp;</a:t>
            </a:r>
            <a:r>
              <a:rPr sz="1500" spc="2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500" spc="75" dirty="0">
                <a:solidFill>
                  <a:srgbClr val="15203F"/>
                </a:solidFill>
                <a:latin typeface="Cambria"/>
                <a:cs typeface="Cambria"/>
              </a:rPr>
              <a:t>Services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Linking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central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administration,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finance,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human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resources.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9125" y="3571875"/>
            <a:ext cx="5019675" cy="1762125"/>
            <a:chOff x="619125" y="3571875"/>
            <a:chExt cx="5019675" cy="1762125"/>
          </a:xfrm>
        </p:grpSpPr>
        <p:sp>
          <p:nvSpPr>
            <p:cNvPr id="15" name="object 15"/>
            <p:cNvSpPr/>
            <p:nvPr/>
          </p:nvSpPr>
          <p:spPr>
            <a:xfrm>
              <a:off x="619125" y="3571875"/>
              <a:ext cx="5019675" cy="1762125"/>
            </a:xfrm>
            <a:custGeom>
              <a:avLst/>
              <a:gdLst/>
              <a:ahLst/>
              <a:cxnLst/>
              <a:rect l="l" t="t" r="r" b="b"/>
              <a:pathLst>
                <a:path w="5019675" h="1762125">
                  <a:moveTo>
                    <a:pt x="5002860" y="0"/>
                  </a:moveTo>
                  <a:lnTo>
                    <a:pt x="16812" y="0"/>
                  </a:lnTo>
                  <a:lnTo>
                    <a:pt x="14337" y="495"/>
                  </a:lnTo>
                  <a:lnTo>
                    <a:pt x="0" y="16814"/>
                  </a:lnTo>
                  <a:lnTo>
                    <a:pt x="0" y="1742743"/>
                  </a:lnTo>
                  <a:lnTo>
                    <a:pt x="0" y="1745312"/>
                  </a:lnTo>
                  <a:lnTo>
                    <a:pt x="16812" y="1762126"/>
                  </a:lnTo>
                  <a:lnTo>
                    <a:pt x="5002860" y="1762126"/>
                  </a:lnTo>
                  <a:lnTo>
                    <a:pt x="5019675" y="1745312"/>
                  </a:lnTo>
                  <a:lnTo>
                    <a:pt x="5019675" y="16814"/>
                  </a:lnTo>
                  <a:lnTo>
                    <a:pt x="5005336" y="495"/>
                  </a:lnTo>
                  <a:lnTo>
                    <a:pt x="5002860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524" y="3724275"/>
              <a:ext cx="466724" cy="466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0240" y="3862211"/>
              <a:ext cx="218520" cy="20007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62397" y="4327461"/>
            <a:ext cx="4609465" cy="812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75" dirty="0">
                <a:solidFill>
                  <a:srgbClr val="15203F"/>
                </a:solidFill>
                <a:latin typeface="Cambria"/>
                <a:cs typeface="Cambria"/>
              </a:rPr>
              <a:t>Information </a:t>
            </a:r>
            <a:r>
              <a:rPr sz="1500" spc="110" dirty="0">
                <a:solidFill>
                  <a:srgbClr val="15203F"/>
                </a:solidFill>
                <a:latin typeface="Cambria"/>
                <a:cs typeface="Cambria"/>
              </a:rPr>
              <a:t>Access</a:t>
            </a:r>
            <a:endParaRPr sz="1500">
              <a:latin typeface="Cambria"/>
              <a:cs typeface="Cambria"/>
            </a:endParaRPr>
          </a:p>
          <a:p>
            <a:pPr marL="12700" marR="5080">
              <a:lnSpc>
                <a:spcPct val="135400"/>
              </a:lnSpc>
              <a:spcBef>
                <a:spcPts val="465"/>
              </a:spcBef>
            </a:pP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Providing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seamless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access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Central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Library,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research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centers,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specialized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databases.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91200" y="3571875"/>
            <a:ext cx="5019675" cy="1762125"/>
            <a:chOff x="5791200" y="3571875"/>
            <a:chExt cx="5019675" cy="1762125"/>
          </a:xfrm>
        </p:grpSpPr>
        <p:sp>
          <p:nvSpPr>
            <p:cNvPr id="20" name="object 20"/>
            <p:cNvSpPr/>
            <p:nvPr/>
          </p:nvSpPr>
          <p:spPr>
            <a:xfrm>
              <a:off x="5791200" y="3571875"/>
              <a:ext cx="5019675" cy="1762125"/>
            </a:xfrm>
            <a:custGeom>
              <a:avLst/>
              <a:gdLst/>
              <a:ahLst/>
              <a:cxnLst/>
              <a:rect l="l" t="t" r="r" b="b"/>
              <a:pathLst>
                <a:path w="5019675" h="1762125">
                  <a:moveTo>
                    <a:pt x="5002860" y="0"/>
                  </a:moveTo>
                  <a:lnTo>
                    <a:pt x="16814" y="0"/>
                  </a:lnTo>
                  <a:lnTo>
                    <a:pt x="14338" y="495"/>
                  </a:lnTo>
                  <a:lnTo>
                    <a:pt x="0" y="16814"/>
                  </a:lnTo>
                  <a:lnTo>
                    <a:pt x="0" y="1742743"/>
                  </a:lnTo>
                  <a:lnTo>
                    <a:pt x="0" y="1745312"/>
                  </a:lnTo>
                  <a:lnTo>
                    <a:pt x="16814" y="1762126"/>
                  </a:lnTo>
                  <a:lnTo>
                    <a:pt x="5002860" y="1762126"/>
                  </a:lnTo>
                  <a:lnTo>
                    <a:pt x="5019675" y="1745312"/>
                  </a:lnTo>
                  <a:lnTo>
                    <a:pt x="5019675" y="16814"/>
                  </a:lnTo>
                  <a:lnTo>
                    <a:pt x="5005336" y="495"/>
                  </a:lnTo>
                  <a:lnTo>
                    <a:pt x="5002860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3599" y="3724275"/>
              <a:ext cx="466724" cy="466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72315" y="3864165"/>
              <a:ext cx="218525" cy="19616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934621" y="4327461"/>
            <a:ext cx="4543425" cy="564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70" dirty="0">
                <a:solidFill>
                  <a:srgbClr val="15203F"/>
                </a:solidFill>
                <a:latin typeface="Cambria"/>
                <a:cs typeface="Cambria"/>
              </a:rPr>
              <a:t>Residential</a:t>
            </a:r>
            <a:r>
              <a:rPr sz="1500" spc="6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500" spc="65" dirty="0">
                <a:solidFill>
                  <a:srgbClr val="15203F"/>
                </a:solidFill>
                <a:latin typeface="Cambria"/>
                <a:cs typeface="Cambria"/>
              </a:rPr>
              <a:t>Areas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Ensuring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connectivity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student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hostels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residential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facilities.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7453" y="5447544"/>
            <a:ext cx="9901555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ultimate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goal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provide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seamless,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reliable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access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shared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resources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students,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faculty,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staff,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enabling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every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aspect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modern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academic</a:t>
            </a:r>
            <a:r>
              <a:rPr sz="1200" spc="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life.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180" dirty="0"/>
              <a:t>How</a:t>
            </a:r>
            <a:r>
              <a:rPr sz="3050" spc="90" dirty="0"/>
              <a:t> </a:t>
            </a:r>
            <a:r>
              <a:rPr sz="3050" spc="95" dirty="0"/>
              <a:t>Does</a:t>
            </a:r>
            <a:r>
              <a:rPr sz="3050" spc="90" dirty="0"/>
              <a:t> </a:t>
            </a:r>
            <a:r>
              <a:rPr sz="3050" spc="100" dirty="0"/>
              <a:t>Data</a:t>
            </a:r>
            <a:r>
              <a:rPr sz="3050" spc="95" dirty="0"/>
              <a:t> </a:t>
            </a:r>
            <a:r>
              <a:rPr sz="3050" spc="170" dirty="0"/>
              <a:t>Move?</a:t>
            </a:r>
            <a:r>
              <a:rPr sz="3050" spc="90" dirty="0"/>
              <a:t> </a:t>
            </a:r>
            <a:r>
              <a:rPr sz="3050" spc="200" dirty="0"/>
              <a:t>The</a:t>
            </a:r>
            <a:r>
              <a:rPr sz="3050" spc="95" dirty="0"/>
              <a:t> </a:t>
            </a:r>
            <a:r>
              <a:rPr sz="3050" spc="90" dirty="0"/>
              <a:t>Role </a:t>
            </a:r>
            <a:r>
              <a:rPr sz="3050" spc="95" dirty="0"/>
              <a:t>of </a:t>
            </a:r>
            <a:r>
              <a:rPr sz="3050" spc="125" dirty="0"/>
              <a:t>Routing</a:t>
            </a:r>
            <a:endParaRPr sz="3050"/>
          </a:p>
        </p:txBody>
      </p:sp>
      <p:grpSp>
        <p:nvGrpSpPr>
          <p:cNvPr id="3" name="object 3"/>
          <p:cNvGrpSpPr/>
          <p:nvPr/>
        </p:nvGrpSpPr>
        <p:grpSpPr>
          <a:xfrm>
            <a:off x="619125" y="1247774"/>
            <a:ext cx="19050" cy="590550"/>
            <a:chOff x="619125" y="1247774"/>
            <a:chExt cx="19050" cy="590550"/>
          </a:xfrm>
        </p:grpSpPr>
        <p:sp>
          <p:nvSpPr>
            <p:cNvPr id="4" name="object 4"/>
            <p:cNvSpPr/>
            <p:nvPr/>
          </p:nvSpPr>
          <p:spPr>
            <a:xfrm>
              <a:off x="619125" y="1247774"/>
              <a:ext cx="19050" cy="590550"/>
            </a:xfrm>
            <a:custGeom>
              <a:avLst/>
              <a:gdLst/>
              <a:ahLst/>
              <a:cxnLst/>
              <a:rect l="l" t="t" r="r" b="b"/>
              <a:pathLst>
                <a:path w="19050" h="590550">
                  <a:moveTo>
                    <a:pt x="19050" y="0"/>
                  </a:moveTo>
                  <a:lnTo>
                    <a:pt x="0" y="0"/>
                  </a:lnTo>
                  <a:lnTo>
                    <a:pt x="0" y="590550"/>
                  </a:lnTo>
                  <a:lnTo>
                    <a:pt x="19050" y="5905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315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5" y="1247774"/>
              <a:ext cx="19050" cy="590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47700" y="51530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2"/>
                </a:lnTo>
                <a:lnTo>
                  <a:pt x="0" y="26968"/>
                </a:lnTo>
                <a:lnTo>
                  <a:pt x="20652" y="47626"/>
                </a:lnTo>
                <a:lnTo>
                  <a:pt x="26972" y="47626"/>
                </a:lnTo>
                <a:lnTo>
                  <a:pt x="47625" y="26968"/>
                </a:lnTo>
                <a:lnTo>
                  <a:pt x="47625" y="23813"/>
                </a:lnTo>
                <a:lnTo>
                  <a:pt x="47625" y="20652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7700" y="544830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9"/>
                </a:lnTo>
                <a:lnTo>
                  <a:pt x="0" y="20651"/>
                </a:lnTo>
                <a:lnTo>
                  <a:pt x="0" y="26967"/>
                </a:lnTo>
                <a:lnTo>
                  <a:pt x="20652" y="47619"/>
                </a:lnTo>
                <a:lnTo>
                  <a:pt x="26972" y="47619"/>
                </a:lnTo>
                <a:lnTo>
                  <a:pt x="47625" y="26967"/>
                </a:lnTo>
                <a:lnTo>
                  <a:pt x="47625" y="23812"/>
                </a:lnTo>
                <a:lnTo>
                  <a:pt x="47625" y="20651"/>
                </a:lnTo>
                <a:lnTo>
                  <a:pt x="30008" y="599"/>
                </a:lnTo>
                <a:lnTo>
                  <a:pt x="2697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7466" y="1423003"/>
            <a:ext cx="9834880" cy="41452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Imagine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sending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letter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from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CSE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building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Admin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building.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How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does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know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which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path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take?</a:t>
            </a:r>
            <a:endParaRPr sz="12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 dirty="0">
              <a:latin typeface="Roboto"/>
              <a:cs typeface="Roboto"/>
            </a:endParaRPr>
          </a:p>
          <a:p>
            <a:pPr marL="12700" marR="5080">
              <a:lnSpc>
                <a:spcPct val="135400"/>
              </a:lnSpc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core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mechanism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governs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data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movement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across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interconnected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3157B7"/>
                </a:solidFill>
                <a:latin typeface="Roboto"/>
                <a:cs typeface="Roboto"/>
              </a:rPr>
              <a:t>Routing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This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critical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process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selecting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most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efficient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path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data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packets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travel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from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source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destination.</a:t>
            </a:r>
            <a:endParaRPr sz="12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45" dirty="0">
                <a:solidFill>
                  <a:srgbClr val="3157B7"/>
                </a:solidFill>
                <a:latin typeface="Cambria"/>
                <a:cs typeface="Cambria"/>
              </a:rPr>
              <a:t>Routers:</a:t>
            </a:r>
            <a:r>
              <a:rPr sz="1800" spc="6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140" dirty="0">
                <a:solidFill>
                  <a:srgbClr val="3157B7"/>
                </a:solidFill>
                <a:latin typeface="Cambria"/>
                <a:cs typeface="Cambria"/>
              </a:rPr>
              <a:t>The</a:t>
            </a:r>
            <a:r>
              <a:rPr sz="1800" spc="7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3157B7"/>
                </a:solidFill>
                <a:latin typeface="Cambria"/>
                <a:cs typeface="Cambria"/>
              </a:rPr>
              <a:t>Network</a:t>
            </a:r>
            <a:r>
              <a:rPr sz="1800" spc="6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3157B7"/>
                </a:solidFill>
                <a:latin typeface="Cambria"/>
                <a:cs typeface="Cambria"/>
              </a:rPr>
              <a:t>Traffic</a:t>
            </a:r>
            <a:r>
              <a:rPr sz="1800" spc="7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3157B7"/>
                </a:solidFill>
                <a:latin typeface="Cambria"/>
                <a:cs typeface="Cambria"/>
              </a:rPr>
              <a:t>Police</a:t>
            </a:r>
            <a:endParaRPr sz="1800" dirty="0">
              <a:latin typeface="Cambria"/>
              <a:cs typeface="Cambria"/>
            </a:endParaRPr>
          </a:p>
          <a:p>
            <a:pPr marL="12700" marR="4424680">
              <a:lnSpc>
                <a:spcPct val="135400"/>
              </a:lnSpc>
              <a:spcBef>
                <a:spcPts val="100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Routers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are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specialized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devices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act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"traffic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police"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network.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They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operate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at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Layer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3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(Network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Layer)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OSI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model.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When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data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packet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arrives,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router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examines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destination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IP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address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consults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its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routing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table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decide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where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forward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packet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next.</a:t>
            </a:r>
            <a:endParaRPr sz="1200" dirty="0">
              <a:latin typeface="Roboto"/>
              <a:cs typeface="Roboto"/>
            </a:endParaRPr>
          </a:p>
          <a:p>
            <a:pPr marL="12700" marR="4629150">
              <a:lnSpc>
                <a:spcPct val="135400"/>
              </a:lnSpc>
              <a:spcBef>
                <a:spcPts val="112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campus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predominantly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use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two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fundamental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methods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to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"teach"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routers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available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paths:</a:t>
            </a:r>
            <a:endParaRPr sz="12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 dirty="0">
              <a:latin typeface="Roboto"/>
              <a:cs typeface="Roboto"/>
            </a:endParaRPr>
          </a:p>
          <a:p>
            <a:pPr marL="260350">
              <a:lnSpc>
                <a:spcPct val="100000"/>
              </a:lnSpc>
            </a:pP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1200" b="1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200" b="1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(The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Manual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Map)</a:t>
            </a:r>
            <a:endParaRPr sz="1200" dirty="0">
              <a:latin typeface="Roboto"/>
              <a:cs typeface="Roboto"/>
            </a:endParaRPr>
          </a:p>
          <a:p>
            <a:pPr marL="260350">
              <a:lnSpc>
                <a:spcPct val="100000"/>
              </a:lnSpc>
              <a:spcBef>
                <a:spcPts val="885"/>
              </a:spcBef>
            </a:pP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Dynamic</a:t>
            </a:r>
            <a:r>
              <a:rPr sz="1200" b="1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200" b="1" spc="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(The</a:t>
            </a:r>
            <a:r>
              <a:rPr sz="1200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Automated</a:t>
            </a:r>
            <a:r>
              <a:rPr sz="1200" spc="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GPS)</a:t>
            </a:r>
            <a:endParaRPr sz="1200" dirty="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9076" y="2382042"/>
            <a:ext cx="4599924" cy="37869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730250"/>
            <a:ext cx="7925434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145" dirty="0"/>
              <a:t>Static</a:t>
            </a:r>
            <a:r>
              <a:rPr sz="3050" spc="95" dirty="0"/>
              <a:t> </a:t>
            </a:r>
            <a:r>
              <a:rPr sz="3050" spc="135" dirty="0"/>
              <a:t>Routing</a:t>
            </a:r>
            <a:r>
              <a:rPr sz="3050" spc="90" dirty="0"/>
              <a:t> </a:t>
            </a:r>
            <a:r>
              <a:rPr sz="3050" spc="100" dirty="0"/>
              <a:t>(The</a:t>
            </a:r>
            <a:r>
              <a:rPr sz="3050" spc="95" dirty="0"/>
              <a:t> </a:t>
            </a:r>
            <a:r>
              <a:rPr sz="3050" spc="220" dirty="0"/>
              <a:t>Manual</a:t>
            </a:r>
            <a:r>
              <a:rPr sz="3050" spc="95" dirty="0"/>
              <a:t> </a:t>
            </a:r>
            <a:r>
              <a:rPr sz="3050" spc="100" dirty="0"/>
              <a:t>Map)</a:t>
            </a: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607466" y="1666119"/>
            <a:ext cx="1011301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simplest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form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routing,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characterized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by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manual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configuration.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administrator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explicitly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defines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every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on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the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router,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providing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fixed,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unchanging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instructions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on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how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reach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specific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networks.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4" y="2400300"/>
            <a:ext cx="5038725" cy="1476375"/>
            <a:chOff x="600074" y="2400300"/>
            <a:chExt cx="5038725" cy="1476375"/>
          </a:xfrm>
        </p:grpSpPr>
        <p:sp>
          <p:nvSpPr>
            <p:cNvPr id="5" name="object 5"/>
            <p:cNvSpPr/>
            <p:nvPr/>
          </p:nvSpPr>
          <p:spPr>
            <a:xfrm>
              <a:off x="619125" y="2409824"/>
              <a:ext cx="5010150" cy="1457325"/>
            </a:xfrm>
            <a:custGeom>
              <a:avLst/>
              <a:gdLst/>
              <a:ahLst/>
              <a:cxnLst/>
              <a:rect l="l" t="t" r="r" b="b"/>
              <a:pathLst>
                <a:path w="5010150" h="1457325">
                  <a:moveTo>
                    <a:pt x="5003012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390650"/>
                  </a:lnTo>
                  <a:lnTo>
                    <a:pt x="0" y="1395031"/>
                  </a:lnTo>
                  <a:lnTo>
                    <a:pt x="15622" y="1431328"/>
                  </a:lnTo>
                  <a:lnTo>
                    <a:pt x="51663" y="1453921"/>
                  </a:lnTo>
                  <a:lnTo>
                    <a:pt x="71194" y="1457325"/>
                  </a:lnTo>
                  <a:lnTo>
                    <a:pt x="5003012" y="1457325"/>
                  </a:lnTo>
                  <a:lnTo>
                    <a:pt x="5005336" y="1456359"/>
                  </a:lnTo>
                  <a:lnTo>
                    <a:pt x="5009184" y="1452511"/>
                  </a:lnTo>
                  <a:lnTo>
                    <a:pt x="5010150" y="1450187"/>
                  </a:lnTo>
                  <a:lnTo>
                    <a:pt x="5010150" y="7137"/>
                  </a:lnTo>
                  <a:lnTo>
                    <a:pt x="5009184" y="4813"/>
                  </a:lnTo>
                  <a:lnTo>
                    <a:pt x="5005336" y="965"/>
                  </a:lnTo>
                  <a:lnTo>
                    <a:pt x="5003012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963" y="2400312"/>
              <a:ext cx="5019040" cy="1476375"/>
            </a:xfrm>
            <a:custGeom>
              <a:avLst/>
              <a:gdLst/>
              <a:ahLst/>
              <a:cxnLst/>
              <a:rect l="l" t="t" r="r" b="b"/>
              <a:pathLst>
                <a:path w="5019040" h="1476375">
                  <a:moveTo>
                    <a:pt x="5018824" y="14033"/>
                  </a:moveTo>
                  <a:lnTo>
                    <a:pt x="5016932" y="9461"/>
                  </a:lnTo>
                  <a:lnTo>
                    <a:pt x="5013617" y="6159"/>
                  </a:lnTo>
                  <a:lnTo>
                    <a:pt x="5013147" y="5676"/>
                  </a:lnTo>
                  <a:lnTo>
                    <a:pt x="5009362" y="1892"/>
                  </a:lnTo>
                  <a:lnTo>
                    <a:pt x="5004790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99660" y="19050"/>
                  </a:lnTo>
                  <a:lnTo>
                    <a:pt x="4999660" y="20129"/>
                  </a:lnTo>
                  <a:lnTo>
                    <a:pt x="4999774" y="1457325"/>
                  </a:lnTo>
                  <a:lnTo>
                    <a:pt x="75349" y="1457325"/>
                  </a:lnTo>
                  <a:lnTo>
                    <a:pt x="33007" y="1447698"/>
                  </a:lnTo>
                  <a:lnTo>
                    <a:pt x="1092" y="1415046"/>
                  </a:lnTo>
                  <a:lnTo>
                    <a:pt x="0" y="1410931"/>
                  </a:lnTo>
                  <a:lnTo>
                    <a:pt x="609" y="1415046"/>
                  </a:lnTo>
                  <a:lnTo>
                    <a:pt x="21475" y="1454061"/>
                  </a:lnTo>
                  <a:lnTo>
                    <a:pt x="60490" y="1474914"/>
                  </a:lnTo>
                  <a:lnTo>
                    <a:pt x="75349" y="1476375"/>
                  </a:lnTo>
                  <a:lnTo>
                    <a:pt x="5004790" y="1476375"/>
                  </a:lnTo>
                  <a:lnTo>
                    <a:pt x="5009362" y="1474482"/>
                  </a:lnTo>
                  <a:lnTo>
                    <a:pt x="5013147" y="1470698"/>
                  </a:lnTo>
                  <a:lnTo>
                    <a:pt x="5013630" y="1470215"/>
                  </a:lnTo>
                  <a:lnTo>
                    <a:pt x="5016932" y="1466913"/>
                  </a:lnTo>
                  <a:lnTo>
                    <a:pt x="5018824" y="1462341"/>
                  </a:lnTo>
                  <a:lnTo>
                    <a:pt x="5018824" y="14033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4" y="2400300"/>
              <a:ext cx="76199" cy="147637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8597" y="2555144"/>
            <a:ext cx="4599305" cy="11080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150" dirty="0">
                <a:solidFill>
                  <a:srgbClr val="15203F"/>
                </a:solidFill>
                <a:latin typeface="Cambria"/>
                <a:cs typeface="Cambria"/>
              </a:rPr>
              <a:t>Manual</a:t>
            </a:r>
            <a:r>
              <a:rPr sz="1800" spc="6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15203F"/>
                </a:solidFill>
                <a:latin typeface="Cambria"/>
                <a:cs typeface="Cambria"/>
              </a:rPr>
              <a:t>Configuration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35400"/>
              </a:lnSpc>
              <a:spcBef>
                <a:spcPts val="48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administrator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enters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information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directly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into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router's configuration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file.</a:t>
            </a:r>
            <a:r>
              <a:rPr sz="12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path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permanent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until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the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administrator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manually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changes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it.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72149" y="2400300"/>
            <a:ext cx="5038725" cy="1476375"/>
            <a:chOff x="5772149" y="2400300"/>
            <a:chExt cx="5038725" cy="1476375"/>
          </a:xfrm>
        </p:grpSpPr>
        <p:sp>
          <p:nvSpPr>
            <p:cNvPr id="10" name="object 10"/>
            <p:cNvSpPr/>
            <p:nvPr/>
          </p:nvSpPr>
          <p:spPr>
            <a:xfrm>
              <a:off x="5791200" y="2409824"/>
              <a:ext cx="5010150" cy="1457325"/>
            </a:xfrm>
            <a:custGeom>
              <a:avLst/>
              <a:gdLst/>
              <a:ahLst/>
              <a:cxnLst/>
              <a:rect l="l" t="t" r="r" b="b"/>
              <a:pathLst>
                <a:path w="5010150" h="1457325">
                  <a:moveTo>
                    <a:pt x="5003012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390650"/>
                  </a:lnTo>
                  <a:lnTo>
                    <a:pt x="0" y="1395031"/>
                  </a:lnTo>
                  <a:lnTo>
                    <a:pt x="15621" y="1431328"/>
                  </a:lnTo>
                  <a:lnTo>
                    <a:pt x="51663" y="1453921"/>
                  </a:lnTo>
                  <a:lnTo>
                    <a:pt x="71196" y="1457325"/>
                  </a:lnTo>
                  <a:lnTo>
                    <a:pt x="5003012" y="1457325"/>
                  </a:lnTo>
                  <a:lnTo>
                    <a:pt x="5005336" y="1456359"/>
                  </a:lnTo>
                  <a:lnTo>
                    <a:pt x="5009184" y="1452511"/>
                  </a:lnTo>
                  <a:lnTo>
                    <a:pt x="5010150" y="1450187"/>
                  </a:lnTo>
                  <a:lnTo>
                    <a:pt x="5010150" y="7137"/>
                  </a:lnTo>
                  <a:lnTo>
                    <a:pt x="5009184" y="4813"/>
                  </a:lnTo>
                  <a:lnTo>
                    <a:pt x="5005336" y="965"/>
                  </a:lnTo>
                  <a:lnTo>
                    <a:pt x="5003012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2038" y="2400312"/>
              <a:ext cx="5019040" cy="1476375"/>
            </a:xfrm>
            <a:custGeom>
              <a:avLst/>
              <a:gdLst/>
              <a:ahLst/>
              <a:cxnLst/>
              <a:rect l="l" t="t" r="r" b="b"/>
              <a:pathLst>
                <a:path w="5019040" h="1476375">
                  <a:moveTo>
                    <a:pt x="5018824" y="14033"/>
                  </a:moveTo>
                  <a:lnTo>
                    <a:pt x="5016932" y="9461"/>
                  </a:lnTo>
                  <a:lnTo>
                    <a:pt x="5013617" y="6159"/>
                  </a:lnTo>
                  <a:lnTo>
                    <a:pt x="5013147" y="5676"/>
                  </a:lnTo>
                  <a:lnTo>
                    <a:pt x="5009362" y="1892"/>
                  </a:lnTo>
                  <a:lnTo>
                    <a:pt x="5004790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99660" y="19050"/>
                  </a:lnTo>
                  <a:lnTo>
                    <a:pt x="4999660" y="20129"/>
                  </a:lnTo>
                  <a:lnTo>
                    <a:pt x="4999774" y="1457325"/>
                  </a:lnTo>
                  <a:lnTo>
                    <a:pt x="75349" y="1457325"/>
                  </a:lnTo>
                  <a:lnTo>
                    <a:pt x="33007" y="1447698"/>
                  </a:lnTo>
                  <a:lnTo>
                    <a:pt x="1079" y="1415046"/>
                  </a:lnTo>
                  <a:lnTo>
                    <a:pt x="0" y="1410944"/>
                  </a:lnTo>
                  <a:lnTo>
                    <a:pt x="609" y="1415046"/>
                  </a:lnTo>
                  <a:lnTo>
                    <a:pt x="2413" y="1422247"/>
                  </a:lnTo>
                  <a:lnTo>
                    <a:pt x="4864" y="1429054"/>
                  </a:lnTo>
                  <a:lnTo>
                    <a:pt x="4953" y="1429334"/>
                  </a:lnTo>
                  <a:lnTo>
                    <a:pt x="33007" y="1463535"/>
                  </a:lnTo>
                  <a:lnTo>
                    <a:pt x="75349" y="1476375"/>
                  </a:lnTo>
                  <a:lnTo>
                    <a:pt x="5004790" y="1476375"/>
                  </a:lnTo>
                  <a:lnTo>
                    <a:pt x="5009362" y="1474482"/>
                  </a:lnTo>
                  <a:lnTo>
                    <a:pt x="5013147" y="1470698"/>
                  </a:lnTo>
                  <a:lnTo>
                    <a:pt x="5013630" y="1470215"/>
                  </a:lnTo>
                  <a:lnTo>
                    <a:pt x="5016932" y="1466913"/>
                  </a:lnTo>
                  <a:lnTo>
                    <a:pt x="5018824" y="1462341"/>
                  </a:lnTo>
                  <a:lnTo>
                    <a:pt x="5018824" y="14033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2149" y="2400300"/>
              <a:ext cx="76199" cy="14763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010821" y="2555144"/>
            <a:ext cx="4581525" cy="8604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95" dirty="0">
                <a:solidFill>
                  <a:srgbClr val="15203F"/>
                </a:solidFill>
                <a:latin typeface="Cambria"/>
                <a:cs typeface="Cambria"/>
              </a:rPr>
              <a:t>Standard</a:t>
            </a:r>
            <a:r>
              <a:rPr sz="1800" spc="7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15203F"/>
                </a:solidFill>
                <a:latin typeface="Cambria"/>
                <a:cs typeface="Cambria"/>
              </a:rPr>
              <a:t>Static</a:t>
            </a:r>
            <a:r>
              <a:rPr sz="1800" spc="8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15203F"/>
                </a:solidFill>
                <a:latin typeface="Cambria"/>
                <a:cs typeface="Cambria"/>
              </a:rPr>
              <a:t>Route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35400"/>
              </a:lnSpc>
              <a:spcBef>
                <a:spcPts val="48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direct,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explicit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path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specific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network.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instance: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"To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reach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Library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(10.0.3.0/24),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forward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packets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Router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X."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074" y="4029075"/>
            <a:ext cx="5038725" cy="1476375"/>
            <a:chOff x="600074" y="4029075"/>
            <a:chExt cx="5038725" cy="1476375"/>
          </a:xfrm>
        </p:grpSpPr>
        <p:sp>
          <p:nvSpPr>
            <p:cNvPr id="15" name="object 15"/>
            <p:cNvSpPr/>
            <p:nvPr/>
          </p:nvSpPr>
          <p:spPr>
            <a:xfrm>
              <a:off x="619125" y="4038599"/>
              <a:ext cx="5010150" cy="1457325"/>
            </a:xfrm>
            <a:custGeom>
              <a:avLst/>
              <a:gdLst/>
              <a:ahLst/>
              <a:cxnLst/>
              <a:rect l="l" t="t" r="r" b="b"/>
              <a:pathLst>
                <a:path w="5010150" h="1457325">
                  <a:moveTo>
                    <a:pt x="5003012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390651"/>
                  </a:lnTo>
                  <a:lnTo>
                    <a:pt x="0" y="1395026"/>
                  </a:lnTo>
                  <a:lnTo>
                    <a:pt x="15622" y="1431330"/>
                  </a:lnTo>
                  <a:lnTo>
                    <a:pt x="51663" y="1453922"/>
                  </a:lnTo>
                  <a:lnTo>
                    <a:pt x="71194" y="1457326"/>
                  </a:lnTo>
                  <a:lnTo>
                    <a:pt x="5003012" y="1457321"/>
                  </a:lnTo>
                  <a:lnTo>
                    <a:pt x="5005336" y="1456363"/>
                  </a:lnTo>
                  <a:lnTo>
                    <a:pt x="5009184" y="1452514"/>
                  </a:lnTo>
                  <a:lnTo>
                    <a:pt x="5010150" y="1450187"/>
                  </a:lnTo>
                  <a:lnTo>
                    <a:pt x="5010150" y="7137"/>
                  </a:lnTo>
                  <a:lnTo>
                    <a:pt x="5009184" y="4813"/>
                  </a:lnTo>
                  <a:lnTo>
                    <a:pt x="5005336" y="965"/>
                  </a:lnTo>
                  <a:lnTo>
                    <a:pt x="5003012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963" y="4029087"/>
              <a:ext cx="5019040" cy="1476375"/>
            </a:xfrm>
            <a:custGeom>
              <a:avLst/>
              <a:gdLst/>
              <a:ahLst/>
              <a:cxnLst/>
              <a:rect l="l" t="t" r="r" b="b"/>
              <a:pathLst>
                <a:path w="5019040" h="1476375">
                  <a:moveTo>
                    <a:pt x="5018824" y="14033"/>
                  </a:moveTo>
                  <a:lnTo>
                    <a:pt x="5016932" y="9461"/>
                  </a:lnTo>
                  <a:lnTo>
                    <a:pt x="5013617" y="6159"/>
                  </a:lnTo>
                  <a:lnTo>
                    <a:pt x="5013147" y="5676"/>
                  </a:lnTo>
                  <a:lnTo>
                    <a:pt x="5009362" y="1892"/>
                  </a:lnTo>
                  <a:lnTo>
                    <a:pt x="5004790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999660" y="19050"/>
                  </a:lnTo>
                  <a:lnTo>
                    <a:pt x="4999660" y="20129"/>
                  </a:lnTo>
                  <a:lnTo>
                    <a:pt x="4999774" y="1456372"/>
                  </a:lnTo>
                  <a:lnTo>
                    <a:pt x="4999774" y="1457325"/>
                  </a:lnTo>
                  <a:lnTo>
                    <a:pt x="75349" y="1457325"/>
                  </a:lnTo>
                  <a:lnTo>
                    <a:pt x="67843" y="1457045"/>
                  </a:lnTo>
                  <a:lnTo>
                    <a:pt x="27038" y="1444371"/>
                  </a:lnTo>
                  <a:lnTo>
                    <a:pt x="1092" y="1415034"/>
                  </a:lnTo>
                  <a:lnTo>
                    <a:pt x="0" y="1410919"/>
                  </a:lnTo>
                  <a:lnTo>
                    <a:pt x="609" y="1415034"/>
                  </a:lnTo>
                  <a:lnTo>
                    <a:pt x="21475" y="1454048"/>
                  </a:lnTo>
                  <a:lnTo>
                    <a:pt x="60490" y="1474914"/>
                  </a:lnTo>
                  <a:lnTo>
                    <a:pt x="75349" y="1476375"/>
                  </a:lnTo>
                  <a:lnTo>
                    <a:pt x="5004790" y="1476375"/>
                  </a:lnTo>
                  <a:lnTo>
                    <a:pt x="5009362" y="1474470"/>
                  </a:lnTo>
                  <a:lnTo>
                    <a:pt x="5013147" y="1470685"/>
                  </a:lnTo>
                  <a:lnTo>
                    <a:pt x="5013630" y="1470215"/>
                  </a:lnTo>
                  <a:lnTo>
                    <a:pt x="5016932" y="1466900"/>
                  </a:lnTo>
                  <a:lnTo>
                    <a:pt x="5018824" y="1462341"/>
                  </a:lnTo>
                  <a:lnTo>
                    <a:pt x="5018824" y="14033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074" y="4029075"/>
              <a:ext cx="76199" cy="147637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38597" y="4183919"/>
            <a:ext cx="4596130" cy="1117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75" dirty="0">
                <a:solidFill>
                  <a:srgbClr val="15203F"/>
                </a:solidFill>
                <a:latin typeface="Cambria"/>
                <a:cs typeface="Cambria"/>
              </a:rPr>
              <a:t>Default</a:t>
            </a:r>
            <a:r>
              <a:rPr sz="180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15203F"/>
                </a:solidFill>
                <a:latin typeface="Cambria"/>
                <a:cs typeface="Cambria"/>
              </a:rPr>
              <a:t>Static</a:t>
            </a:r>
            <a:r>
              <a:rPr sz="1800" spc="6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15203F"/>
                </a:solidFill>
                <a:latin typeface="Cambria"/>
                <a:cs typeface="Cambria"/>
              </a:rPr>
              <a:t>Route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35400"/>
              </a:lnSpc>
              <a:spcBef>
                <a:spcPts val="55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'gateway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last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resort'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(0.0.0.0/0).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If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router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has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no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specific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 a destination, it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sends the packet here4typically to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the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main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internet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gateway.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72149" y="4029075"/>
            <a:ext cx="5038725" cy="1476375"/>
            <a:chOff x="5772149" y="4029075"/>
            <a:chExt cx="5038725" cy="1476375"/>
          </a:xfrm>
        </p:grpSpPr>
        <p:sp>
          <p:nvSpPr>
            <p:cNvPr id="20" name="object 20"/>
            <p:cNvSpPr/>
            <p:nvPr/>
          </p:nvSpPr>
          <p:spPr>
            <a:xfrm>
              <a:off x="5791200" y="4038599"/>
              <a:ext cx="5010150" cy="1457325"/>
            </a:xfrm>
            <a:custGeom>
              <a:avLst/>
              <a:gdLst/>
              <a:ahLst/>
              <a:cxnLst/>
              <a:rect l="l" t="t" r="r" b="b"/>
              <a:pathLst>
                <a:path w="5010150" h="1457325">
                  <a:moveTo>
                    <a:pt x="5003012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390651"/>
                  </a:lnTo>
                  <a:lnTo>
                    <a:pt x="0" y="1395026"/>
                  </a:lnTo>
                  <a:lnTo>
                    <a:pt x="15621" y="1431330"/>
                  </a:lnTo>
                  <a:lnTo>
                    <a:pt x="51663" y="1453922"/>
                  </a:lnTo>
                  <a:lnTo>
                    <a:pt x="71196" y="1457326"/>
                  </a:lnTo>
                  <a:lnTo>
                    <a:pt x="5003012" y="1457321"/>
                  </a:lnTo>
                  <a:lnTo>
                    <a:pt x="5005336" y="1456363"/>
                  </a:lnTo>
                  <a:lnTo>
                    <a:pt x="5009184" y="1452514"/>
                  </a:lnTo>
                  <a:lnTo>
                    <a:pt x="5010150" y="1450187"/>
                  </a:lnTo>
                  <a:lnTo>
                    <a:pt x="5010150" y="7137"/>
                  </a:lnTo>
                  <a:lnTo>
                    <a:pt x="5009184" y="4813"/>
                  </a:lnTo>
                  <a:lnTo>
                    <a:pt x="5005336" y="965"/>
                  </a:lnTo>
                  <a:lnTo>
                    <a:pt x="5003012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92038" y="4029087"/>
              <a:ext cx="5019040" cy="1476375"/>
            </a:xfrm>
            <a:custGeom>
              <a:avLst/>
              <a:gdLst/>
              <a:ahLst/>
              <a:cxnLst/>
              <a:rect l="l" t="t" r="r" b="b"/>
              <a:pathLst>
                <a:path w="5019040" h="1476375">
                  <a:moveTo>
                    <a:pt x="5018824" y="14033"/>
                  </a:moveTo>
                  <a:lnTo>
                    <a:pt x="5016932" y="9461"/>
                  </a:lnTo>
                  <a:lnTo>
                    <a:pt x="5013617" y="6159"/>
                  </a:lnTo>
                  <a:lnTo>
                    <a:pt x="5013147" y="5676"/>
                  </a:lnTo>
                  <a:lnTo>
                    <a:pt x="5009362" y="1892"/>
                  </a:lnTo>
                  <a:lnTo>
                    <a:pt x="5004790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999660" y="19050"/>
                  </a:lnTo>
                  <a:lnTo>
                    <a:pt x="4999660" y="20129"/>
                  </a:lnTo>
                  <a:lnTo>
                    <a:pt x="4999774" y="1456372"/>
                  </a:lnTo>
                  <a:lnTo>
                    <a:pt x="4999774" y="1457325"/>
                  </a:lnTo>
                  <a:lnTo>
                    <a:pt x="75349" y="1457325"/>
                  </a:lnTo>
                  <a:lnTo>
                    <a:pt x="67843" y="1457045"/>
                  </a:lnTo>
                  <a:lnTo>
                    <a:pt x="27038" y="1444371"/>
                  </a:lnTo>
                  <a:lnTo>
                    <a:pt x="1079" y="1415034"/>
                  </a:lnTo>
                  <a:lnTo>
                    <a:pt x="0" y="1410931"/>
                  </a:lnTo>
                  <a:lnTo>
                    <a:pt x="609" y="1415034"/>
                  </a:lnTo>
                  <a:lnTo>
                    <a:pt x="21463" y="1454048"/>
                  </a:lnTo>
                  <a:lnTo>
                    <a:pt x="60490" y="1474914"/>
                  </a:lnTo>
                  <a:lnTo>
                    <a:pt x="75349" y="1476375"/>
                  </a:lnTo>
                  <a:lnTo>
                    <a:pt x="5004790" y="1476375"/>
                  </a:lnTo>
                  <a:lnTo>
                    <a:pt x="5009362" y="1474470"/>
                  </a:lnTo>
                  <a:lnTo>
                    <a:pt x="5013147" y="1470685"/>
                  </a:lnTo>
                  <a:lnTo>
                    <a:pt x="5013630" y="1470215"/>
                  </a:lnTo>
                  <a:lnTo>
                    <a:pt x="5016932" y="1466900"/>
                  </a:lnTo>
                  <a:lnTo>
                    <a:pt x="5018824" y="1462341"/>
                  </a:lnTo>
                  <a:lnTo>
                    <a:pt x="5018824" y="14033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2149" y="4029075"/>
              <a:ext cx="76199" cy="147637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010821" y="4183919"/>
            <a:ext cx="4509135" cy="1117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105" dirty="0">
                <a:solidFill>
                  <a:srgbClr val="15203F"/>
                </a:solidFill>
                <a:latin typeface="Cambria"/>
                <a:cs typeface="Cambria"/>
              </a:rPr>
              <a:t>Floating</a:t>
            </a:r>
            <a:r>
              <a:rPr sz="1800" spc="6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15203F"/>
                </a:solidFill>
                <a:latin typeface="Cambria"/>
                <a:cs typeface="Cambria"/>
              </a:rPr>
              <a:t>Static</a:t>
            </a:r>
            <a:r>
              <a:rPr sz="1800" spc="6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15203F"/>
                </a:solidFill>
                <a:latin typeface="Cambria"/>
                <a:cs typeface="Cambria"/>
              </a:rPr>
              <a:t>Route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35400"/>
              </a:lnSpc>
              <a:spcBef>
                <a:spcPts val="55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crucial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backup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mechanism.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has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higher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administrative "distance"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(or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cost)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only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activated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if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primary,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45" dirty="0">
                <a:solidFill>
                  <a:srgbClr val="15203F"/>
                </a:solidFill>
                <a:latin typeface="Roboto"/>
                <a:cs typeface="Roboto"/>
              </a:rPr>
              <a:t>lower-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cost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route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fails,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ensuring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quick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failover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reliability.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07950"/>
            <a:ext cx="11430000" cy="6486525"/>
          </a:xfrm>
          <a:custGeom>
            <a:avLst/>
            <a:gdLst/>
            <a:ahLst/>
            <a:cxnLst/>
            <a:rect l="l" t="t" r="r" b="b"/>
            <a:pathLst>
              <a:path w="11430000" h="6486525">
                <a:moveTo>
                  <a:pt x="11430000" y="0"/>
                </a:moveTo>
                <a:lnTo>
                  <a:pt x="0" y="0"/>
                </a:lnTo>
                <a:lnTo>
                  <a:pt x="0" y="6486525"/>
                </a:lnTo>
                <a:lnTo>
                  <a:pt x="11430000" y="64865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66" y="437927"/>
            <a:ext cx="102150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165" dirty="0"/>
              <a:t>Dynamic</a:t>
            </a:r>
            <a:r>
              <a:rPr sz="2600" spc="65" dirty="0"/>
              <a:t> </a:t>
            </a:r>
            <a:r>
              <a:rPr sz="2600" spc="80" dirty="0"/>
              <a:t>Routing:</a:t>
            </a:r>
            <a:r>
              <a:rPr sz="2600" spc="120" dirty="0"/>
              <a:t>(Using</a:t>
            </a:r>
            <a:r>
              <a:rPr sz="2600" spc="60" dirty="0"/>
              <a:t> </a:t>
            </a:r>
            <a:r>
              <a:rPr sz="2600" spc="-20" dirty="0"/>
              <a:t>RIP)</a:t>
            </a:r>
            <a:endParaRPr sz="2600" dirty="0"/>
          </a:p>
        </p:txBody>
      </p:sp>
      <p:sp>
        <p:nvSpPr>
          <p:cNvPr id="4" name="object 4"/>
          <p:cNvSpPr/>
          <p:nvPr/>
        </p:nvSpPr>
        <p:spPr>
          <a:xfrm>
            <a:off x="657225" y="35718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7225" y="41529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7466" y="1048937"/>
            <a:ext cx="9958705" cy="3763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800"/>
              </a:lnSpc>
              <a:spcBef>
                <a:spcPts val="100"/>
              </a:spcBef>
            </a:pPr>
            <a:r>
              <a:rPr sz="1300" spc="-20" dirty="0">
                <a:solidFill>
                  <a:srgbClr val="15203F"/>
                </a:solidFill>
                <a:latin typeface="Roboto"/>
                <a:cs typeface="Roboto"/>
              </a:rPr>
              <a:t>Dynamic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allows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routers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15203F"/>
                </a:solidFill>
                <a:latin typeface="Roboto"/>
                <a:cs typeface="Roboto"/>
              </a:rPr>
              <a:t>automatically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discover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adapt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topology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15203F"/>
                </a:solidFill>
                <a:latin typeface="Roboto"/>
                <a:cs typeface="Roboto"/>
              </a:rPr>
              <a:t>without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constant</a:t>
            </a:r>
            <a:r>
              <a:rPr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manual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intervention,</a:t>
            </a:r>
            <a:r>
              <a:rPr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15203F"/>
                </a:solidFill>
                <a:latin typeface="Roboto"/>
                <a:cs typeface="Roboto"/>
              </a:rPr>
              <a:t>much 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like</a:t>
            </a:r>
            <a:r>
              <a:rPr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an</a:t>
            </a:r>
            <a:r>
              <a:rPr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automated</a:t>
            </a:r>
            <a:r>
              <a:rPr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GPS</a:t>
            </a:r>
            <a:r>
              <a:rPr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system</a:t>
            </a:r>
            <a:r>
              <a:rPr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recalculates</a:t>
            </a:r>
            <a:r>
              <a:rPr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based</a:t>
            </a:r>
            <a:r>
              <a:rPr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on</a:t>
            </a:r>
            <a:r>
              <a:rPr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15203F"/>
                </a:solidFill>
                <a:latin typeface="Roboto"/>
                <a:cs typeface="Roboto"/>
              </a:rPr>
              <a:t>real-</a:t>
            </a:r>
            <a:r>
              <a:rPr sz="1300" dirty="0">
                <a:solidFill>
                  <a:srgbClr val="15203F"/>
                </a:solidFill>
                <a:latin typeface="Roboto"/>
                <a:cs typeface="Roboto"/>
              </a:rPr>
              <a:t>time</a:t>
            </a:r>
            <a:r>
              <a:rPr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Roboto"/>
                <a:cs typeface="Roboto"/>
              </a:rPr>
              <a:t>conditions.</a:t>
            </a:r>
            <a:endParaRPr sz="13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lang="en-IN" sz="13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lang="en-US" sz="1550" spc="75" dirty="0">
                <a:solidFill>
                  <a:srgbClr val="3157B7"/>
                </a:solidFill>
                <a:latin typeface="Cambria"/>
                <a:cs typeface="Cambria"/>
              </a:rPr>
              <a:t>Routing</a:t>
            </a:r>
            <a:r>
              <a:rPr lang="en-US" sz="1550" spc="6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lang="en-US" sz="1550" spc="75" dirty="0">
                <a:solidFill>
                  <a:srgbClr val="3157B7"/>
                </a:solidFill>
                <a:latin typeface="Cambria"/>
                <a:cs typeface="Cambria"/>
              </a:rPr>
              <a:t>Information</a:t>
            </a:r>
            <a:r>
              <a:rPr lang="en-US" sz="1550" spc="7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lang="en-US" sz="1550" spc="45" dirty="0">
                <a:solidFill>
                  <a:srgbClr val="3157B7"/>
                </a:solidFill>
                <a:latin typeface="Cambria"/>
                <a:cs typeface="Cambria"/>
              </a:rPr>
              <a:t>Protocol</a:t>
            </a:r>
            <a:r>
              <a:rPr lang="en-US" sz="1550" spc="7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lang="en-US" sz="1550" spc="-20" dirty="0">
                <a:solidFill>
                  <a:srgbClr val="3157B7"/>
                </a:solidFill>
                <a:latin typeface="Cambria"/>
                <a:cs typeface="Cambria"/>
              </a:rPr>
              <a:t>(RIP)</a:t>
            </a:r>
          </a:p>
          <a:p>
            <a:pPr marL="12700" marR="5004435">
              <a:lnSpc>
                <a:spcPct val="133000"/>
              </a:lnSpc>
              <a:spcBef>
                <a:spcPts val="800"/>
              </a:spcBef>
            </a:pP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RIP</a:t>
            </a:r>
            <a:r>
              <a:rPr lang="en-US" sz="1300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one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lang="en-US" sz="1300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oldest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simplest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dynamic</a:t>
            </a:r>
            <a:r>
              <a:rPr lang="en-US" sz="1300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protocols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still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used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25" dirty="0">
                <a:solidFill>
                  <a:srgbClr val="15203F"/>
                </a:solidFill>
                <a:latin typeface="Roboto"/>
                <a:cs typeface="Roboto"/>
              </a:rPr>
              <a:t>in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smaller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or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closed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networks.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It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allows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routers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automatically </a:t>
            </a:r>
            <a:r>
              <a:rPr lang="en-US" sz="1300" spc="-25" dirty="0">
                <a:solidFill>
                  <a:srgbClr val="15203F"/>
                </a:solidFill>
                <a:latin typeface="Roboto"/>
                <a:cs typeface="Roboto"/>
              </a:rPr>
              <a:t>"discover"</a:t>
            </a:r>
            <a:r>
              <a:rPr lang="en-US"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networks</a:t>
            </a:r>
            <a:r>
              <a:rPr lang="en-US"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lang="en-US"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share</a:t>
            </a:r>
            <a:r>
              <a:rPr lang="en-US"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this</a:t>
            </a:r>
            <a:r>
              <a:rPr lang="en-US"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information</a:t>
            </a:r>
            <a:r>
              <a:rPr lang="en-US"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20" dirty="0">
                <a:solidFill>
                  <a:srgbClr val="15203F"/>
                </a:solidFill>
                <a:latin typeface="Roboto"/>
                <a:cs typeface="Roboto"/>
              </a:rPr>
              <a:t>iteratively</a:t>
            </a:r>
            <a:r>
              <a:rPr lang="en-US"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with</a:t>
            </a:r>
            <a:r>
              <a:rPr lang="en-US" sz="13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their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direct</a:t>
            </a:r>
            <a:r>
              <a:rPr lang="en-US" sz="1300" spc="-7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neighbors.</a:t>
            </a:r>
            <a:endParaRPr lang="en-US" sz="1300" dirty="0">
              <a:latin typeface="Roboto"/>
              <a:cs typeface="Roboto"/>
            </a:endParaRPr>
          </a:p>
          <a:p>
            <a:pPr marL="275590" marR="5026025" indent="-635">
              <a:lnSpc>
                <a:spcPct val="134600"/>
              </a:lnSpc>
              <a:spcBef>
                <a:spcPts val="900"/>
              </a:spcBef>
            </a:pP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Routers</a:t>
            </a:r>
            <a:r>
              <a:rPr lang="en-US" sz="1300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send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their</a:t>
            </a:r>
            <a:r>
              <a:rPr lang="en-US" sz="1300" spc="-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b="1" dirty="0">
                <a:solidFill>
                  <a:srgbClr val="15203F"/>
                </a:solidFill>
                <a:latin typeface="Roboto"/>
                <a:cs typeface="Roboto"/>
              </a:rPr>
              <a:t>entire</a:t>
            </a:r>
            <a:r>
              <a:rPr lang="en-US" sz="1300" b="1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b="1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lang="en-US" sz="1300" b="1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b="1" dirty="0">
                <a:solidFill>
                  <a:srgbClr val="15203F"/>
                </a:solidFill>
                <a:latin typeface="Roboto"/>
                <a:cs typeface="Roboto"/>
              </a:rPr>
              <a:t>table</a:t>
            </a:r>
            <a:r>
              <a:rPr lang="en-US" sz="1300" b="1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neighboring</a:t>
            </a:r>
            <a:r>
              <a:rPr lang="en-US" sz="1300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routers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at</a:t>
            </a:r>
            <a:r>
              <a:rPr lang="en-US" sz="1300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regular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intervals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(e.g.,</a:t>
            </a:r>
            <a:r>
              <a:rPr lang="en-US" sz="1300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every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30</a:t>
            </a:r>
            <a:r>
              <a:rPr lang="en-US" sz="13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seconds).</a:t>
            </a:r>
            <a:endParaRPr lang="en-US" sz="1300" dirty="0">
              <a:latin typeface="Roboto"/>
              <a:cs typeface="Roboto"/>
            </a:endParaRPr>
          </a:p>
          <a:p>
            <a:pPr marL="275590" marR="5579745">
              <a:lnSpc>
                <a:spcPct val="129800"/>
              </a:lnSpc>
              <a:spcBef>
                <a:spcPts val="450"/>
              </a:spcBef>
            </a:pPr>
            <a:r>
              <a:rPr lang="en-US" sz="1200" b="1" dirty="0"/>
              <a:t>Distance Vector</a:t>
            </a:r>
            <a:r>
              <a:rPr lang="en-US" sz="1200" dirty="0"/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protocol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uses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b="1" dirty="0">
                <a:solidFill>
                  <a:srgbClr val="15203F"/>
                </a:solidFill>
                <a:latin typeface="Roboto"/>
                <a:cs typeface="Roboto"/>
              </a:rPr>
              <a:t>Hop</a:t>
            </a:r>
            <a:r>
              <a:rPr lang="en-US" sz="1300" b="1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b="1" dirty="0">
                <a:solidFill>
                  <a:srgbClr val="15203F"/>
                </a:solidFill>
                <a:latin typeface="Roboto"/>
                <a:cs typeface="Roboto"/>
              </a:rPr>
              <a:t>Count</a:t>
            </a:r>
            <a:r>
              <a:rPr lang="en-US" sz="1300" b="1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(the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number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routers traversed)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as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its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sole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metric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determine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lang="en-US" sz="13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dirty="0">
                <a:solidFill>
                  <a:srgbClr val="15203F"/>
                </a:solidFill>
                <a:latin typeface="Roboto"/>
                <a:cs typeface="Roboto"/>
              </a:rPr>
              <a:t>best</a:t>
            </a:r>
            <a:r>
              <a:rPr lang="en-US" sz="13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300" spc="-10" dirty="0">
                <a:solidFill>
                  <a:srgbClr val="15203F"/>
                </a:solidFill>
                <a:latin typeface="Roboto"/>
                <a:cs typeface="Roboto"/>
              </a:rPr>
              <a:t>path.</a:t>
            </a:r>
            <a:endParaRPr lang="en-US" sz="1300" dirty="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61329" y="1797050"/>
            <a:ext cx="4965966" cy="41172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A30F86-A75F-F8AD-09E6-B24709CBA377}"/>
              </a:ext>
            </a:extLst>
          </p:cNvPr>
          <p:cNvSpPr txBox="1"/>
          <p:nvPr/>
        </p:nvSpPr>
        <p:spPr>
          <a:xfrm>
            <a:off x="457200" y="5002181"/>
            <a:ext cx="556473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Limitation</a:t>
            </a:r>
          </a:p>
          <a:p>
            <a:r>
              <a:rPr lang="en-US" sz="1100" dirty="0"/>
              <a:t>         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F9E11-92B9-4D95-EBCB-2ECBD36AFD63}"/>
              </a:ext>
            </a:extLst>
          </p:cNvPr>
          <p:cNvSpPr txBox="1"/>
          <p:nvPr/>
        </p:nvSpPr>
        <p:spPr>
          <a:xfrm>
            <a:off x="838199" y="5370510"/>
            <a:ext cx="48768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Maximum hop count of 15 (16 is unreachable), making it unsuitable for very large networks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0542" y="654050"/>
            <a:ext cx="804672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200" dirty="0"/>
              <a:t>The</a:t>
            </a:r>
            <a:r>
              <a:rPr sz="3050" spc="95" dirty="0"/>
              <a:t> </a:t>
            </a:r>
            <a:r>
              <a:rPr sz="3050" spc="170" dirty="0"/>
              <a:t>Ethics</a:t>
            </a:r>
            <a:r>
              <a:rPr sz="3050" spc="95" dirty="0"/>
              <a:t> of</a:t>
            </a:r>
            <a:r>
              <a:rPr sz="3050" spc="100" dirty="0"/>
              <a:t> </a:t>
            </a:r>
            <a:r>
              <a:rPr sz="3050" spc="95" dirty="0"/>
              <a:t>Routing: </a:t>
            </a:r>
            <a:r>
              <a:rPr sz="3050" spc="175" dirty="0"/>
              <a:t>Ensuring</a:t>
            </a:r>
            <a:r>
              <a:rPr sz="3050" spc="95" dirty="0"/>
              <a:t> </a:t>
            </a:r>
            <a:r>
              <a:rPr sz="3050" spc="114" dirty="0"/>
              <a:t>Fair</a:t>
            </a:r>
            <a:r>
              <a:rPr sz="3050" spc="100" dirty="0"/>
              <a:t> </a:t>
            </a:r>
            <a:r>
              <a:rPr sz="3050" spc="220" dirty="0"/>
              <a:t>Access</a:t>
            </a:r>
            <a:endParaRPr sz="3050" dirty="0"/>
          </a:p>
        </p:txBody>
      </p:sp>
      <p:sp>
        <p:nvSpPr>
          <p:cNvPr id="3" name="object 3"/>
          <p:cNvSpPr txBox="1"/>
          <p:nvPr/>
        </p:nvSpPr>
        <p:spPr>
          <a:xfrm>
            <a:off x="610542" y="1511237"/>
            <a:ext cx="9751695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35400"/>
              </a:lnSpc>
              <a:spcBef>
                <a:spcPts val="95"/>
              </a:spcBef>
            </a:pP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not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just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technical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exercise;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foundation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digital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equity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on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campus.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configuration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choices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make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directly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affect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how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students</a:t>
            </a:r>
            <a:r>
              <a:rPr sz="1200" spc="-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faculty</a:t>
            </a:r>
            <a:r>
              <a:rPr sz="12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interact</a:t>
            </a:r>
            <a:r>
              <a:rPr sz="12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with</a:t>
            </a:r>
            <a:r>
              <a:rPr sz="12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essential</a:t>
            </a:r>
            <a:r>
              <a:rPr sz="12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resources.</a:t>
            </a:r>
            <a:endParaRPr sz="1200" dirty="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542" y="2899691"/>
            <a:ext cx="404713" cy="3031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88789" y="2907569"/>
            <a:ext cx="2705100" cy="2108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100" dirty="0">
                <a:solidFill>
                  <a:srgbClr val="15203F"/>
                </a:solidFill>
                <a:latin typeface="Cambria"/>
                <a:cs typeface="Cambria"/>
              </a:rPr>
              <a:t>Routing</a:t>
            </a:r>
            <a:r>
              <a:rPr sz="1800" spc="6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15203F"/>
                </a:solidFill>
                <a:latin typeface="Cambria"/>
                <a:cs typeface="Cambria"/>
              </a:rPr>
              <a:t>is</a:t>
            </a:r>
            <a:r>
              <a:rPr sz="1800" spc="6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15203F"/>
                </a:solidFill>
                <a:latin typeface="Cambria"/>
                <a:cs typeface="Cambria"/>
              </a:rPr>
              <a:t>Blind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36300"/>
              </a:lnSpc>
              <a:spcBef>
                <a:spcPts val="46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standard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form,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treats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all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data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packets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equally.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packet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from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15203F"/>
                </a:solidFill>
                <a:latin typeface="Roboto"/>
                <a:cs typeface="Roboto"/>
              </a:rPr>
              <a:t>a </a:t>
            </a:r>
            <a:r>
              <a:rPr sz="1200" spc="-45" dirty="0">
                <a:solidFill>
                  <a:srgbClr val="15203F"/>
                </a:solidFill>
                <a:latin typeface="Roboto"/>
                <a:cs typeface="Roboto"/>
              </a:rPr>
              <a:t>first-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year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student's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phone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handled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with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same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priority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packet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from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45" dirty="0">
                <a:solidFill>
                  <a:srgbClr val="15203F"/>
                </a:solidFill>
                <a:latin typeface="Roboto"/>
                <a:cs typeface="Roboto"/>
              </a:rPr>
              <a:t>Vice-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Chancellor's</a:t>
            </a:r>
            <a:r>
              <a:rPr sz="12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office,</a:t>
            </a:r>
            <a:r>
              <a:rPr sz="12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ensuring inherent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fairness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resource distribution.</a:t>
            </a:r>
            <a:endParaRPr sz="1200" dirty="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9783" y="2848917"/>
            <a:ext cx="361373" cy="4047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49939" y="2907569"/>
            <a:ext cx="2704465" cy="161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65" dirty="0">
                <a:solidFill>
                  <a:srgbClr val="15203F"/>
                </a:solidFill>
                <a:latin typeface="Cambria"/>
                <a:cs typeface="Cambria"/>
              </a:rPr>
              <a:t>Equitable</a:t>
            </a:r>
            <a:r>
              <a:rPr sz="1800" spc="9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140" dirty="0">
                <a:solidFill>
                  <a:srgbClr val="15203F"/>
                </a:solidFill>
                <a:latin typeface="Cambria"/>
                <a:cs typeface="Cambria"/>
              </a:rPr>
              <a:t>Access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36700"/>
              </a:lnSpc>
              <a:spcBef>
                <a:spcPts val="459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Proper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ensures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users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regardless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department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status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have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fair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access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critical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services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like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online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exam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system,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library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databases,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online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journals.</a:t>
            </a:r>
            <a:endParaRPr sz="1200" dirty="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5217" y="2872856"/>
            <a:ext cx="404718" cy="3568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11082" y="2891301"/>
            <a:ext cx="2600960" cy="191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63830">
              <a:lnSpc>
                <a:spcPct val="107600"/>
              </a:lnSpc>
              <a:spcBef>
                <a:spcPts val="95"/>
              </a:spcBef>
            </a:pPr>
            <a:r>
              <a:rPr sz="1800" spc="140" dirty="0">
                <a:solidFill>
                  <a:srgbClr val="15203F"/>
                </a:solidFill>
                <a:latin typeface="Cambria"/>
                <a:cs typeface="Cambria"/>
              </a:rPr>
              <a:t>The</a:t>
            </a:r>
            <a:r>
              <a:rPr sz="1800" spc="6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15203F"/>
                </a:solidFill>
                <a:latin typeface="Cambria"/>
                <a:cs typeface="Cambria"/>
              </a:rPr>
              <a:t>Professional</a:t>
            </a:r>
            <a:r>
              <a:rPr sz="1800" spc="7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15203F"/>
                </a:solidFill>
                <a:latin typeface="Cambria"/>
                <a:cs typeface="Cambria"/>
              </a:rPr>
              <a:t>Duty </a:t>
            </a:r>
            <a:r>
              <a:rPr sz="1800" spc="-10" dirty="0">
                <a:solidFill>
                  <a:srgbClr val="15203F"/>
                </a:solidFill>
                <a:latin typeface="Cambria"/>
                <a:cs typeface="Cambria"/>
              </a:rPr>
              <a:t>(PO6)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35400"/>
              </a:lnSpc>
              <a:spcBef>
                <a:spcPts val="48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engineers,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have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professional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ethical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responsibility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configure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be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3157B7"/>
                </a:solidFill>
                <a:latin typeface="Roboto"/>
                <a:cs typeface="Roboto"/>
              </a:rPr>
              <a:t>Equitable,</a:t>
            </a:r>
            <a:r>
              <a:rPr sz="1200" spc="-20" dirty="0">
                <a:solidFill>
                  <a:srgbClr val="3157B7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3157B7"/>
                </a:solidFill>
                <a:latin typeface="Roboto"/>
                <a:cs typeface="Roboto"/>
              </a:rPr>
              <a:t>Secure, </a:t>
            </a:r>
            <a:r>
              <a:rPr sz="1200" dirty="0">
                <a:solidFill>
                  <a:srgbClr val="3157B7"/>
                </a:solidFill>
                <a:latin typeface="Roboto"/>
                <a:cs typeface="Roboto"/>
              </a:rPr>
              <a:t>and</a:t>
            </a:r>
            <a:r>
              <a:rPr sz="1200" spc="-30" dirty="0">
                <a:solidFill>
                  <a:srgbClr val="3157B7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3157B7"/>
                </a:solidFill>
                <a:latin typeface="Roboto"/>
                <a:cs typeface="Roboto"/>
              </a:rPr>
              <a:t>Reliable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design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must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serve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entire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academic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community.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77000"/>
          </a:xfrm>
          <a:custGeom>
            <a:avLst/>
            <a:gdLst/>
            <a:ahLst/>
            <a:cxnLst/>
            <a:rect l="l" t="t" r="r" b="b"/>
            <a:pathLst>
              <a:path w="11430000" h="6477000">
                <a:moveTo>
                  <a:pt x="11430000" y="0"/>
                </a:moveTo>
                <a:lnTo>
                  <a:pt x="0" y="0"/>
                </a:lnTo>
                <a:lnTo>
                  <a:pt x="0" y="6477000"/>
                </a:lnTo>
                <a:lnTo>
                  <a:pt x="11430000" y="6477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135" dirty="0"/>
              <a:t>Ethical</a:t>
            </a:r>
            <a:r>
              <a:rPr sz="2600" spc="80" dirty="0"/>
              <a:t> </a:t>
            </a:r>
            <a:r>
              <a:rPr sz="2600" spc="105" dirty="0"/>
              <a:t>Risks:</a:t>
            </a:r>
            <a:r>
              <a:rPr sz="2600" spc="85" dirty="0"/>
              <a:t> </a:t>
            </a:r>
            <a:r>
              <a:rPr sz="2600" spc="165" dirty="0"/>
              <a:t>The</a:t>
            </a:r>
            <a:r>
              <a:rPr sz="2600" spc="85" dirty="0"/>
              <a:t> </a:t>
            </a:r>
            <a:r>
              <a:rPr sz="2600" spc="130" dirty="0"/>
              <a:t>Impact</a:t>
            </a:r>
            <a:r>
              <a:rPr sz="2600" spc="80" dirty="0"/>
              <a:t> of</a:t>
            </a:r>
            <a:r>
              <a:rPr sz="2600" spc="85" dirty="0"/>
              <a:t> </a:t>
            </a:r>
            <a:r>
              <a:rPr sz="2600" spc="125" dirty="0"/>
              <a:t>Misconfiguration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607466" y="1112869"/>
            <a:ext cx="986345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simple,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accidental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mistake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during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configuration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can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lead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severe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consequences,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breaching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ethical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responsibilities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disrupting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academic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environment.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77514" y="1562887"/>
            <a:ext cx="5278120" cy="2156460"/>
            <a:chOff x="3077514" y="1562887"/>
            <a:chExt cx="5278120" cy="2156460"/>
          </a:xfrm>
        </p:grpSpPr>
        <p:sp>
          <p:nvSpPr>
            <p:cNvPr id="6" name="object 6"/>
            <p:cNvSpPr/>
            <p:nvPr/>
          </p:nvSpPr>
          <p:spPr>
            <a:xfrm>
              <a:off x="3077514" y="3201187"/>
              <a:ext cx="5278120" cy="518159"/>
            </a:xfrm>
            <a:custGeom>
              <a:avLst/>
              <a:gdLst/>
              <a:ahLst/>
              <a:cxnLst/>
              <a:rect l="l" t="t" r="r" b="b"/>
              <a:pathLst>
                <a:path w="5278120" h="518160">
                  <a:moveTo>
                    <a:pt x="5014023" y="0"/>
                  </a:moveTo>
                  <a:lnTo>
                    <a:pt x="5014023" y="66433"/>
                  </a:lnTo>
                  <a:lnTo>
                    <a:pt x="0" y="66433"/>
                  </a:lnTo>
                  <a:lnTo>
                    <a:pt x="0" y="453859"/>
                  </a:lnTo>
                  <a:lnTo>
                    <a:pt x="5014023" y="453859"/>
                  </a:lnTo>
                  <a:lnTo>
                    <a:pt x="5014023" y="517690"/>
                  </a:lnTo>
                  <a:lnTo>
                    <a:pt x="5278094" y="258851"/>
                  </a:lnTo>
                  <a:lnTo>
                    <a:pt x="5014023" y="0"/>
                  </a:lnTo>
                  <a:close/>
                </a:path>
              </a:pathLst>
            </a:custGeom>
            <a:solidFill>
              <a:srgbClr val="3860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7514" y="2654884"/>
              <a:ext cx="4780280" cy="518159"/>
            </a:xfrm>
            <a:custGeom>
              <a:avLst/>
              <a:gdLst/>
              <a:ahLst/>
              <a:cxnLst/>
              <a:rect l="l" t="t" r="r" b="b"/>
              <a:pathLst>
                <a:path w="4780280" h="518160">
                  <a:moveTo>
                    <a:pt x="4515878" y="0"/>
                  </a:moveTo>
                  <a:lnTo>
                    <a:pt x="4515878" y="64782"/>
                  </a:lnTo>
                  <a:lnTo>
                    <a:pt x="0" y="64782"/>
                  </a:lnTo>
                  <a:lnTo>
                    <a:pt x="0" y="452221"/>
                  </a:lnTo>
                  <a:lnTo>
                    <a:pt x="4515878" y="452221"/>
                  </a:lnTo>
                  <a:lnTo>
                    <a:pt x="4515878" y="517690"/>
                  </a:lnTo>
                  <a:lnTo>
                    <a:pt x="4779962" y="258838"/>
                  </a:lnTo>
                  <a:lnTo>
                    <a:pt x="4515878" y="0"/>
                  </a:lnTo>
                  <a:close/>
                </a:path>
              </a:pathLst>
            </a:custGeom>
            <a:solidFill>
              <a:srgbClr val="2C4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7514" y="2109533"/>
              <a:ext cx="4337685" cy="518159"/>
            </a:xfrm>
            <a:custGeom>
              <a:avLst/>
              <a:gdLst/>
              <a:ahLst/>
              <a:cxnLst/>
              <a:rect l="l" t="t" r="r" b="b"/>
              <a:pathLst>
                <a:path w="4337684" h="518160">
                  <a:moveTo>
                    <a:pt x="4073105" y="0"/>
                  </a:moveTo>
                  <a:lnTo>
                    <a:pt x="4073105" y="66421"/>
                  </a:lnTo>
                  <a:lnTo>
                    <a:pt x="0" y="66421"/>
                  </a:lnTo>
                  <a:lnTo>
                    <a:pt x="0" y="453859"/>
                  </a:lnTo>
                  <a:lnTo>
                    <a:pt x="4073105" y="453859"/>
                  </a:lnTo>
                  <a:lnTo>
                    <a:pt x="4073105" y="517690"/>
                  </a:lnTo>
                  <a:lnTo>
                    <a:pt x="4337177" y="258838"/>
                  </a:lnTo>
                  <a:lnTo>
                    <a:pt x="4073105" y="0"/>
                  </a:lnTo>
                  <a:close/>
                </a:path>
              </a:pathLst>
            </a:custGeom>
            <a:solidFill>
              <a:srgbClr val="2038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7514" y="1562887"/>
              <a:ext cx="3889375" cy="518159"/>
            </a:xfrm>
            <a:custGeom>
              <a:avLst/>
              <a:gdLst/>
              <a:ahLst/>
              <a:cxnLst/>
              <a:rect l="l" t="t" r="r" b="b"/>
              <a:pathLst>
                <a:path w="3889375" h="518160">
                  <a:moveTo>
                    <a:pt x="3624783" y="0"/>
                  </a:moveTo>
                  <a:lnTo>
                    <a:pt x="3624783" y="65125"/>
                  </a:lnTo>
                  <a:lnTo>
                    <a:pt x="0" y="65125"/>
                  </a:lnTo>
                  <a:lnTo>
                    <a:pt x="0" y="452551"/>
                  </a:lnTo>
                  <a:lnTo>
                    <a:pt x="3624783" y="452551"/>
                  </a:lnTo>
                  <a:lnTo>
                    <a:pt x="3624783" y="517677"/>
                  </a:lnTo>
                  <a:lnTo>
                    <a:pt x="3888867" y="258838"/>
                  </a:lnTo>
                  <a:lnTo>
                    <a:pt x="3624783" y="0"/>
                  </a:lnTo>
                  <a:close/>
                </a:path>
              </a:pathLst>
            </a:custGeom>
            <a:solidFill>
              <a:srgbClr val="152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28580" y="3368372"/>
            <a:ext cx="8115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65" dirty="0">
                <a:solidFill>
                  <a:srgbClr val="FFFFFF"/>
                </a:solidFill>
                <a:latin typeface="Cambria"/>
                <a:cs typeface="Cambria"/>
              </a:rPr>
              <a:t>Ethical</a:t>
            </a:r>
            <a:r>
              <a:rPr sz="950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60" dirty="0">
                <a:solidFill>
                  <a:srgbClr val="FFFFFF"/>
                </a:solidFill>
                <a:latin typeface="Cambria"/>
                <a:cs typeface="Cambria"/>
              </a:rPr>
              <a:t>Harm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8580" y="2820422"/>
            <a:ext cx="87058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50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sz="95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45" dirty="0">
                <a:solidFill>
                  <a:srgbClr val="FFFFFF"/>
                </a:solidFill>
                <a:latin typeface="Cambria"/>
                <a:cs typeface="Cambria"/>
              </a:rPr>
              <a:t>Exposure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28580" y="2278013"/>
            <a:ext cx="9556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60" dirty="0">
                <a:solidFill>
                  <a:srgbClr val="FFFFFF"/>
                </a:solidFill>
                <a:latin typeface="Cambria"/>
                <a:cs typeface="Cambria"/>
              </a:rPr>
              <a:t>Security</a:t>
            </a:r>
            <a:r>
              <a:rPr sz="950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50" dirty="0">
                <a:solidFill>
                  <a:srgbClr val="FFFFFF"/>
                </a:solidFill>
                <a:latin typeface="Cambria"/>
                <a:cs typeface="Cambria"/>
              </a:rPr>
              <a:t>Breach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28580" y="1730062"/>
            <a:ext cx="63182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50" dirty="0">
                <a:solidFill>
                  <a:srgbClr val="FFFFFF"/>
                </a:solidFill>
                <a:latin typeface="Cambria"/>
                <a:cs typeface="Cambria"/>
              </a:rPr>
              <a:t>Downtime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8175" y="44291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4" y="0"/>
                </a:moveTo>
                <a:lnTo>
                  <a:pt x="16525" y="0"/>
                </a:lnTo>
                <a:lnTo>
                  <a:pt x="14094" y="482"/>
                </a:lnTo>
                <a:lnTo>
                  <a:pt x="0" y="16522"/>
                </a:lnTo>
                <a:lnTo>
                  <a:pt x="0" y="21577"/>
                </a:lnTo>
                <a:lnTo>
                  <a:pt x="16525" y="38100"/>
                </a:lnTo>
                <a:lnTo>
                  <a:pt x="21574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lnTo>
                  <a:pt x="24005" y="482"/>
                </a:lnTo>
                <a:lnTo>
                  <a:pt x="21574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8175" y="48958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4" y="0"/>
                </a:moveTo>
                <a:lnTo>
                  <a:pt x="16525" y="0"/>
                </a:lnTo>
                <a:lnTo>
                  <a:pt x="14094" y="482"/>
                </a:lnTo>
                <a:lnTo>
                  <a:pt x="0" y="16522"/>
                </a:lnTo>
                <a:lnTo>
                  <a:pt x="0" y="21577"/>
                </a:lnTo>
                <a:lnTo>
                  <a:pt x="16525" y="38100"/>
                </a:lnTo>
                <a:lnTo>
                  <a:pt x="21574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lnTo>
                  <a:pt x="24005" y="482"/>
                </a:lnTo>
                <a:lnTo>
                  <a:pt x="21574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8175" y="53625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4" y="0"/>
                </a:moveTo>
                <a:lnTo>
                  <a:pt x="16525" y="0"/>
                </a:lnTo>
                <a:lnTo>
                  <a:pt x="14094" y="481"/>
                </a:lnTo>
                <a:lnTo>
                  <a:pt x="0" y="16525"/>
                </a:lnTo>
                <a:lnTo>
                  <a:pt x="0" y="21574"/>
                </a:lnTo>
                <a:lnTo>
                  <a:pt x="16525" y="38100"/>
                </a:lnTo>
                <a:lnTo>
                  <a:pt x="21574" y="38100"/>
                </a:lnTo>
                <a:lnTo>
                  <a:pt x="38100" y="21574"/>
                </a:lnTo>
                <a:lnTo>
                  <a:pt x="38100" y="19050"/>
                </a:lnTo>
                <a:lnTo>
                  <a:pt x="38100" y="16525"/>
                </a:lnTo>
                <a:lnTo>
                  <a:pt x="24005" y="481"/>
                </a:lnTo>
                <a:lnTo>
                  <a:pt x="21574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18207" y="4290371"/>
            <a:ext cx="9952990" cy="1387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0"/>
              </a:spcBef>
            </a:pP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Risk</a:t>
            </a:r>
            <a:r>
              <a:rPr sz="1000" b="1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1:</a:t>
            </a:r>
            <a:r>
              <a:rPr sz="1000" b="1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Downtime.</a:t>
            </a:r>
            <a:r>
              <a:rPr sz="1000" b="1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typo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route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can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isolate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entire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academic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building,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denying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students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faculty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access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essential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services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potentially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causing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failure</a:t>
            </a:r>
            <a:r>
              <a:rPr sz="1000" spc="50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40" dirty="0">
                <a:solidFill>
                  <a:srgbClr val="15203F"/>
                </a:solidFill>
                <a:latin typeface="Roboto"/>
                <a:cs typeface="Roboto"/>
              </a:rPr>
              <a:t>high-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stakes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processes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like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online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exams.</a:t>
            </a:r>
            <a:endParaRPr sz="1000">
              <a:latin typeface="Roboto"/>
              <a:cs typeface="Roboto"/>
            </a:endParaRPr>
          </a:p>
          <a:p>
            <a:pPr marL="12700" marR="259715">
              <a:lnSpc>
                <a:spcPct val="137500"/>
              </a:lnSpc>
              <a:spcBef>
                <a:spcPts val="375"/>
              </a:spcBef>
            </a:pP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Risk</a:t>
            </a:r>
            <a:r>
              <a:rPr sz="1000" b="1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2:</a:t>
            </a:r>
            <a:r>
              <a:rPr sz="1000" b="1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Misrouted</a:t>
            </a:r>
            <a:r>
              <a:rPr sz="1000" b="1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Data</a:t>
            </a:r>
            <a:r>
              <a:rPr sz="1000" b="1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&amp;</a:t>
            </a:r>
            <a:r>
              <a:rPr sz="1000" b="1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Security</a:t>
            </a:r>
            <a:r>
              <a:rPr sz="1000" b="1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Breaches.</a:t>
            </a:r>
            <a:r>
              <a:rPr sz="1000" b="1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Incorrect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forwarding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settings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could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send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sensitive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academic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data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(e.g.,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exam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questions,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financial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records)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insecure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public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segment,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compromising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privacy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integrity.</a:t>
            </a:r>
            <a:endParaRPr sz="1000">
              <a:latin typeface="Roboto"/>
              <a:cs typeface="Roboto"/>
            </a:endParaRPr>
          </a:p>
          <a:p>
            <a:pPr marL="12700" marR="60960">
              <a:lnSpc>
                <a:spcPct val="143800"/>
              </a:lnSpc>
              <a:spcBef>
                <a:spcPts val="300"/>
              </a:spcBef>
            </a:pP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Risk</a:t>
            </a:r>
            <a:r>
              <a:rPr sz="1000" b="1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3:</a:t>
            </a:r>
            <a:r>
              <a:rPr sz="1000" b="1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Unauthorized</a:t>
            </a:r>
            <a:r>
              <a:rPr sz="1000" b="1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15203F"/>
                </a:solidFill>
                <a:latin typeface="Roboto"/>
                <a:cs typeface="Roboto"/>
              </a:rPr>
              <a:t>Access.</a:t>
            </a:r>
            <a:r>
              <a:rPr sz="1000" b="1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Complex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misconfigurations,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such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as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loops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or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"black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holes,"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can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be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exploited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by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malicious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actors,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creating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backdoor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bypasses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firewalls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crucial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perimeter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security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controls.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0634980" cy="6434455"/>
          </a:xfrm>
          <a:custGeom>
            <a:avLst/>
            <a:gdLst/>
            <a:ahLst/>
            <a:cxnLst/>
            <a:rect l="l" t="t" r="r" b="b"/>
            <a:pathLst>
              <a:path w="10634980" h="6434455">
                <a:moveTo>
                  <a:pt x="10634782" y="0"/>
                </a:moveTo>
                <a:lnTo>
                  <a:pt x="0" y="0"/>
                </a:lnTo>
                <a:lnTo>
                  <a:pt x="0" y="6434043"/>
                </a:lnTo>
                <a:lnTo>
                  <a:pt x="10634782" y="6434043"/>
                </a:lnTo>
                <a:lnTo>
                  <a:pt x="10634782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2"/>
            <a:ext cx="10634782" cy="180791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4319" y="2187902"/>
            <a:ext cx="7291705" cy="91059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ts val="3560"/>
              </a:lnSpc>
              <a:spcBef>
                <a:spcPts val="45"/>
              </a:spcBef>
            </a:pPr>
            <a:r>
              <a:rPr sz="2800" spc="200" dirty="0"/>
              <a:t>The</a:t>
            </a:r>
            <a:r>
              <a:rPr sz="2800" spc="100" dirty="0"/>
              <a:t> </a:t>
            </a:r>
            <a:r>
              <a:rPr sz="2800" spc="140" dirty="0"/>
              <a:t>University's</a:t>
            </a:r>
            <a:r>
              <a:rPr sz="2800" spc="105" dirty="0"/>
              <a:t> </a:t>
            </a:r>
            <a:r>
              <a:rPr sz="2800" spc="120" dirty="0"/>
              <a:t>Digital</a:t>
            </a:r>
            <a:r>
              <a:rPr sz="2800" spc="100" dirty="0"/>
              <a:t> </a:t>
            </a:r>
            <a:r>
              <a:rPr sz="2800" spc="105" dirty="0"/>
              <a:t>Lifeline: </a:t>
            </a:r>
            <a:r>
              <a:rPr sz="2800" spc="165" dirty="0"/>
              <a:t>Impact</a:t>
            </a:r>
            <a:r>
              <a:rPr sz="2800" spc="100" dirty="0"/>
              <a:t> </a:t>
            </a:r>
            <a:r>
              <a:rPr sz="2800" spc="150" dirty="0"/>
              <a:t>on </a:t>
            </a:r>
            <a:r>
              <a:rPr sz="2800" spc="125" dirty="0"/>
              <a:t>Stakeholders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564319" y="3259746"/>
            <a:ext cx="9127490" cy="4864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400"/>
              </a:lnSpc>
              <a:spcBef>
                <a:spcPts val="90"/>
              </a:spcBef>
            </a:pP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campus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more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than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just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infrastructure;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it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critical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societal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tool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underpins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modern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university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functions.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Its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performance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directly</a:t>
            </a:r>
            <a:r>
              <a:rPr sz="1100" spc="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affects</a:t>
            </a:r>
            <a:r>
              <a:rPr sz="1100" spc="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1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success</a:t>
            </a:r>
            <a:r>
              <a:rPr sz="1100" spc="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1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students</a:t>
            </a:r>
            <a:r>
              <a:rPr sz="1100" spc="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1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100" spc="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efficiency</a:t>
            </a:r>
            <a:r>
              <a:rPr sz="11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100" spc="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1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institution.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2637" y="4590680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5095" y="0"/>
                </a:moveTo>
                <a:lnTo>
                  <a:pt x="19215" y="0"/>
                </a:lnTo>
                <a:lnTo>
                  <a:pt x="16390" y="555"/>
                </a:lnTo>
                <a:lnTo>
                  <a:pt x="0" y="19213"/>
                </a:lnTo>
                <a:lnTo>
                  <a:pt x="0" y="25098"/>
                </a:lnTo>
                <a:lnTo>
                  <a:pt x="19215" y="44311"/>
                </a:lnTo>
                <a:lnTo>
                  <a:pt x="25095" y="44311"/>
                </a:lnTo>
                <a:lnTo>
                  <a:pt x="44311" y="25098"/>
                </a:lnTo>
                <a:lnTo>
                  <a:pt x="44311" y="22155"/>
                </a:lnTo>
                <a:lnTo>
                  <a:pt x="44311" y="19213"/>
                </a:lnTo>
                <a:lnTo>
                  <a:pt x="27921" y="555"/>
                </a:lnTo>
                <a:lnTo>
                  <a:pt x="25095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2637" y="5104695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5095" y="0"/>
                </a:moveTo>
                <a:lnTo>
                  <a:pt x="19215" y="0"/>
                </a:lnTo>
                <a:lnTo>
                  <a:pt x="16390" y="555"/>
                </a:lnTo>
                <a:lnTo>
                  <a:pt x="0" y="19213"/>
                </a:lnTo>
                <a:lnTo>
                  <a:pt x="0" y="25098"/>
                </a:lnTo>
                <a:lnTo>
                  <a:pt x="19215" y="44311"/>
                </a:lnTo>
                <a:lnTo>
                  <a:pt x="25095" y="44311"/>
                </a:lnTo>
                <a:lnTo>
                  <a:pt x="44311" y="25098"/>
                </a:lnTo>
                <a:lnTo>
                  <a:pt x="44311" y="22155"/>
                </a:lnTo>
                <a:lnTo>
                  <a:pt x="44311" y="19213"/>
                </a:lnTo>
                <a:lnTo>
                  <a:pt x="27921" y="555"/>
                </a:lnTo>
                <a:lnTo>
                  <a:pt x="25095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2637" y="5609845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5095" y="0"/>
                </a:moveTo>
                <a:lnTo>
                  <a:pt x="19215" y="0"/>
                </a:lnTo>
                <a:lnTo>
                  <a:pt x="16390" y="562"/>
                </a:lnTo>
                <a:lnTo>
                  <a:pt x="0" y="19219"/>
                </a:lnTo>
                <a:lnTo>
                  <a:pt x="0" y="25095"/>
                </a:lnTo>
                <a:lnTo>
                  <a:pt x="19215" y="44311"/>
                </a:lnTo>
                <a:lnTo>
                  <a:pt x="25095" y="44311"/>
                </a:lnTo>
                <a:lnTo>
                  <a:pt x="44311" y="25095"/>
                </a:lnTo>
                <a:lnTo>
                  <a:pt x="44311" y="22155"/>
                </a:lnTo>
                <a:lnTo>
                  <a:pt x="44311" y="19219"/>
                </a:lnTo>
                <a:lnTo>
                  <a:pt x="27921" y="562"/>
                </a:lnTo>
                <a:lnTo>
                  <a:pt x="25095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4319" y="4069195"/>
            <a:ext cx="2875915" cy="188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3157B7"/>
                </a:solidFill>
                <a:latin typeface="Cambria"/>
                <a:cs typeface="Cambria"/>
              </a:rPr>
              <a:t>Impact</a:t>
            </a:r>
            <a:r>
              <a:rPr sz="1700" spc="5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3157B7"/>
                </a:solidFill>
                <a:latin typeface="Cambria"/>
                <a:cs typeface="Cambria"/>
              </a:rPr>
              <a:t>on</a:t>
            </a:r>
            <a:r>
              <a:rPr sz="1700" spc="6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3157B7"/>
                </a:solidFill>
                <a:latin typeface="Cambria"/>
                <a:cs typeface="Cambria"/>
              </a:rPr>
              <a:t>Students</a:t>
            </a:r>
            <a:endParaRPr sz="1700">
              <a:latin typeface="Cambria"/>
              <a:cs typeface="Cambria"/>
            </a:endParaRPr>
          </a:p>
          <a:p>
            <a:pPr marL="243204" marR="40640">
              <a:lnSpc>
                <a:spcPct val="137400"/>
              </a:lnSpc>
              <a:spcBef>
                <a:spcPts val="930"/>
              </a:spcBef>
            </a:pPr>
            <a:r>
              <a:rPr sz="1100" b="1" dirty="0">
                <a:solidFill>
                  <a:srgbClr val="15203F"/>
                </a:solidFill>
                <a:latin typeface="Roboto"/>
                <a:cs typeface="Roboto"/>
              </a:rPr>
              <a:t>Critical:</a:t>
            </a:r>
            <a:r>
              <a:rPr sz="1100" b="1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Online</a:t>
            </a:r>
            <a:r>
              <a:rPr sz="11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exam</a:t>
            </a:r>
            <a:r>
              <a:rPr sz="11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systems</a:t>
            </a:r>
            <a:r>
              <a:rPr sz="11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1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20" dirty="0">
                <a:solidFill>
                  <a:srgbClr val="15203F"/>
                </a:solidFill>
                <a:latin typeface="Roboto"/>
                <a:cs typeface="Roboto"/>
              </a:rPr>
              <a:t>grade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submission.</a:t>
            </a:r>
            <a:endParaRPr sz="1100">
              <a:latin typeface="Roboto"/>
              <a:cs typeface="Roboto"/>
            </a:endParaRPr>
          </a:p>
          <a:p>
            <a:pPr marL="243204" marR="5080">
              <a:lnSpc>
                <a:spcPct val="137400"/>
              </a:lnSpc>
              <a:spcBef>
                <a:spcPts val="420"/>
              </a:spcBef>
            </a:pP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Access</a:t>
            </a:r>
            <a:r>
              <a:rPr sz="11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1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course</a:t>
            </a:r>
            <a:r>
              <a:rPr sz="11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materials,</a:t>
            </a:r>
            <a:r>
              <a:rPr sz="11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95" dirty="0">
                <a:solidFill>
                  <a:srgbClr val="15203F"/>
                </a:solidFill>
                <a:latin typeface="Roboto"/>
                <a:cs typeface="Roboto"/>
              </a:rPr>
              <a:t>e-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books,</a:t>
            </a:r>
            <a:r>
              <a:rPr sz="11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15203F"/>
                </a:solidFill>
                <a:latin typeface="Roboto"/>
                <a:cs typeface="Roboto"/>
              </a:rPr>
              <a:t>and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journals.</a:t>
            </a:r>
            <a:endParaRPr sz="1100">
              <a:latin typeface="Roboto"/>
              <a:cs typeface="Roboto"/>
            </a:endParaRPr>
          </a:p>
          <a:p>
            <a:pPr marL="243204" marR="177800">
              <a:lnSpc>
                <a:spcPct val="137400"/>
              </a:lnSpc>
              <a:spcBef>
                <a:spcPts val="350"/>
              </a:spcBef>
            </a:pP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Submitting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assignments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100" spc="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checking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academic</a:t>
            </a:r>
            <a:r>
              <a:rPr sz="1100" spc="9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results.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55108" y="4590680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5086" y="0"/>
                </a:moveTo>
                <a:lnTo>
                  <a:pt x="19213" y="0"/>
                </a:lnTo>
                <a:lnTo>
                  <a:pt x="16389" y="555"/>
                </a:lnTo>
                <a:lnTo>
                  <a:pt x="0" y="19213"/>
                </a:lnTo>
                <a:lnTo>
                  <a:pt x="0" y="25098"/>
                </a:lnTo>
                <a:lnTo>
                  <a:pt x="19213" y="44311"/>
                </a:lnTo>
                <a:lnTo>
                  <a:pt x="25086" y="44311"/>
                </a:lnTo>
                <a:lnTo>
                  <a:pt x="44311" y="25098"/>
                </a:lnTo>
                <a:lnTo>
                  <a:pt x="44311" y="22155"/>
                </a:lnTo>
                <a:lnTo>
                  <a:pt x="44311" y="19213"/>
                </a:lnTo>
                <a:lnTo>
                  <a:pt x="27922" y="555"/>
                </a:lnTo>
                <a:lnTo>
                  <a:pt x="25086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55108" y="5104695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5086" y="0"/>
                </a:moveTo>
                <a:lnTo>
                  <a:pt x="19213" y="0"/>
                </a:lnTo>
                <a:lnTo>
                  <a:pt x="16389" y="555"/>
                </a:lnTo>
                <a:lnTo>
                  <a:pt x="0" y="19213"/>
                </a:lnTo>
                <a:lnTo>
                  <a:pt x="0" y="25098"/>
                </a:lnTo>
                <a:lnTo>
                  <a:pt x="19213" y="44311"/>
                </a:lnTo>
                <a:lnTo>
                  <a:pt x="25086" y="44311"/>
                </a:lnTo>
                <a:lnTo>
                  <a:pt x="44311" y="25098"/>
                </a:lnTo>
                <a:lnTo>
                  <a:pt x="44311" y="22155"/>
                </a:lnTo>
                <a:lnTo>
                  <a:pt x="44311" y="19213"/>
                </a:lnTo>
                <a:lnTo>
                  <a:pt x="27922" y="555"/>
                </a:lnTo>
                <a:lnTo>
                  <a:pt x="25086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55108" y="5609845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5086" y="0"/>
                </a:moveTo>
                <a:lnTo>
                  <a:pt x="19213" y="0"/>
                </a:lnTo>
                <a:lnTo>
                  <a:pt x="16389" y="562"/>
                </a:lnTo>
                <a:lnTo>
                  <a:pt x="0" y="19219"/>
                </a:lnTo>
                <a:lnTo>
                  <a:pt x="0" y="25095"/>
                </a:lnTo>
                <a:lnTo>
                  <a:pt x="19213" y="44311"/>
                </a:lnTo>
                <a:lnTo>
                  <a:pt x="25086" y="44311"/>
                </a:lnTo>
                <a:lnTo>
                  <a:pt x="44311" y="25095"/>
                </a:lnTo>
                <a:lnTo>
                  <a:pt x="44311" y="22155"/>
                </a:lnTo>
                <a:lnTo>
                  <a:pt x="44311" y="19219"/>
                </a:lnTo>
                <a:lnTo>
                  <a:pt x="27922" y="562"/>
                </a:lnTo>
                <a:lnTo>
                  <a:pt x="25086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817901" y="4069195"/>
            <a:ext cx="2701290" cy="188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3157B7"/>
                </a:solidFill>
                <a:latin typeface="Cambria"/>
                <a:cs typeface="Cambria"/>
              </a:rPr>
              <a:t>Impact</a:t>
            </a:r>
            <a:r>
              <a:rPr sz="1700" spc="5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3157B7"/>
                </a:solidFill>
                <a:latin typeface="Cambria"/>
                <a:cs typeface="Cambria"/>
              </a:rPr>
              <a:t>on</a:t>
            </a:r>
            <a:r>
              <a:rPr sz="1700" spc="6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3157B7"/>
                </a:solidFill>
                <a:latin typeface="Cambria"/>
                <a:cs typeface="Cambria"/>
              </a:rPr>
              <a:t>Faculty</a:t>
            </a:r>
            <a:endParaRPr sz="1700">
              <a:latin typeface="Cambria"/>
              <a:cs typeface="Cambria"/>
            </a:endParaRPr>
          </a:p>
          <a:p>
            <a:pPr marL="243204" marR="211454">
              <a:lnSpc>
                <a:spcPct val="137400"/>
              </a:lnSpc>
              <a:spcBef>
                <a:spcPts val="930"/>
              </a:spcBef>
            </a:pP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Accessing</a:t>
            </a:r>
            <a:r>
              <a:rPr sz="11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research</a:t>
            </a:r>
            <a:r>
              <a:rPr sz="11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databases</a:t>
            </a:r>
            <a:r>
              <a:rPr sz="11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15203F"/>
                </a:solidFill>
                <a:latin typeface="Roboto"/>
                <a:cs typeface="Roboto"/>
              </a:rPr>
              <a:t>and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global</a:t>
            </a:r>
            <a:r>
              <a:rPr sz="1100" spc="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collaboration</a:t>
            </a:r>
            <a:r>
              <a:rPr sz="1100" spc="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tools.</a:t>
            </a:r>
            <a:endParaRPr sz="1100">
              <a:latin typeface="Roboto"/>
              <a:cs typeface="Roboto"/>
            </a:endParaRPr>
          </a:p>
          <a:p>
            <a:pPr marL="243204" marR="114935">
              <a:lnSpc>
                <a:spcPct val="137400"/>
              </a:lnSpc>
              <a:spcBef>
                <a:spcPts val="420"/>
              </a:spcBef>
            </a:pP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Uploading</a:t>
            </a:r>
            <a:r>
              <a:rPr sz="1100" spc="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materials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1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university portal.</a:t>
            </a:r>
            <a:endParaRPr sz="1100">
              <a:latin typeface="Roboto"/>
              <a:cs typeface="Roboto"/>
            </a:endParaRPr>
          </a:p>
          <a:p>
            <a:pPr marL="243204" marR="5080">
              <a:lnSpc>
                <a:spcPct val="137400"/>
              </a:lnSpc>
              <a:spcBef>
                <a:spcPts val="350"/>
              </a:spcBef>
            </a:pP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Maintaining</a:t>
            </a:r>
            <a:r>
              <a:rPr sz="11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seamless</a:t>
            </a:r>
            <a:r>
              <a:rPr sz="11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communication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with</a:t>
            </a:r>
            <a:r>
              <a:rPr sz="1100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students</a:t>
            </a:r>
            <a:r>
              <a:rPr sz="1100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100" spc="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colleagues.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07579" y="4590680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5086" y="0"/>
                </a:moveTo>
                <a:lnTo>
                  <a:pt x="19213" y="0"/>
                </a:lnTo>
                <a:lnTo>
                  <a:pt x="16389" y="555"/>
                </a:lnTo>
                <a:lnTo>
                  <a:pt x="0" y="19213"/>
                </a:lnTo>
                <a:lnTo>
                  <a:pt x="0" y="25098"/>
                </a:lnTo>
                <a:lnTo>
                  <a:pt x="19213" y="44311"/>
                </a:lnTo>
                <a:lnTo>
                  <a:pt x="25086" y="44311"/>
                </a:lnTo>
                <a:lnTo>
                  <a:pt x="44311" y="25098"/>
                </a:lnTo>
                <a:lnTo>
                  <a:pt x="44311" y="22155"/>
                </a:lnTo>
                <a:lnTo>
                  <a:pt x="44311" y="19213"/>
                </a:lnTo>
                <a:lnTo>
                  <a:pt x="27922" y="555"/>
                </a:lnTo>
                <a:lnTo>
                  <a:pt x="25086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07579" y="5104695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5086" y="0"/>
                </a:moveTo>
                <a:lnTo>
                  <a:pt x="19213" y="0"/>
                </a:lnTo>
                <a:lnTo>
                  <a:pt x="16389" y="555"/>
                </a:lnTo>
                <a:lnTo>
                  <a:pt x="0" y="19213"/>
                </a:lnTo>
                <a:lnTo>
                  <a:pt x="0" y="25098"/>
                </a:lnTo>
                <a:lnTo>
                  <a:pt x="19213" y="44311"/>
                </a:lnTo>
                <a:lnTo>
                  <a:pt x="25086" y="44311"/>
                </a:lnTo>
                <a:lnTo>
                  <a:pt x="44311" y="25098"/>
                </a:lnTo>
                <a:lnTo>
                  <a:pt x="44311" y="22155"/>
                </a:lnTo>
                <a:lnTo>
                  <a:pt x="44311" y="19213"/>
                </a:lnTo>
                <a:lnTo>
                  <a:pt x="27922" y="555"/>
                </a:lnTo>
                <a:lnTo>
                  <a:pt x="25086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07579" y="5609845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5086" y="0"/>
                </a:moveTo>
                <a:lnTo>
                  <a:pt x="19213" y="0"/>
                </a:lnTo>
                <a:lnTo>
                  <a:pt x="16389" y="562"/>
                </a:lnTo>
                <a:lnTo>
                  <a:pt x="0" y="19219"/>
                </a:lnTo>
                <a:lnTo>
                  <a:pt x="0" y="25095"/>
                </a:lnTo>
                <a:lnTo>
                  <a:pt x="19213" y="44311"/>
                </a:lnTo>
                <a:lnTo>
                  <a:pt x="25086" y="44311"/>
                </a:lnTo>
                <a:lnTo>
                  <a:pt x="44311" y="25095"/>
                </a:lnTo>
                <a:lnTo>
                  <a:pt x="44311" y="22155"/>
                </a:lnTo>
                <a:lnTo>
                  <a:pt x="44311" y="19219"/>
                </a:lnTo>
                <a:lnTo>
                  <a:pt x="27922" y="562"/>
                </a:lnTo>
                <a:lnTo>
                  <a:pt x="25086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71483" y="4069195"/>
            <a:ext cx="2886710" cy="188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3157B7"/>
                </a:solidFill>
                <a:latin typeface="Cambria"/>
                <a:cs typeface="Cambria"/>
              </a:rPr>
              <a:t>Impact</a:t>
            </a:r>
            <a:r>
              <a:rPr sz="1700" spc="5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3157B7"/>
                </a:solidFill>
                <a:latin typeface="Cambria"/>
                <a:cs typeface="Cambria"/>
              </a:rPr>
              <a:t>on</a:t>
            </a:r>
            <a:r>
              <a:rPr sz="1700" spc="6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3157B7"/>
                </a:solidFill>
                <a:latin typeface="Cambria"/>
                <a:cs typeface="Cambria"/>
              </a:rPr>
              <a:t>Administration</a:t>
            </a:r>
            <a:endParaRPr sz="1700">
              <a:latin typeface="Cambria"/>
              <a:cs typeface="Cambria"/>
            </a:endParaRPr>
          </a:p>
          <a:p>
            <a:pPr marL="243204" marR="311150">
              <a:lnSpc>
                <a:spcPct val="137400"/>
              </a:lnSpc>
              <a:spcBef>
                <a:spcPts val="930"/>
              </a:spcBef>
            </a:pP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Running</a:t>
            </a:r>
            <a:r>
              <a:rPr sz="11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1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student</a:t>
            </a:r>
            <a:r>
              <a:rPr sz="11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registration</a:t>
            </a:r>
            <a:r>
              <a:rPr sz="11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15203F"/>
                </a:solidFill>
                <a:latin typeface="Roboto"/>
                <a:cs typeface="Roboto"/>
              </a:rPr>
              <a:t>and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enrollment</a:t>
            </a:r>
            <a:r>
              <a:rPr sz="11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system.</a:t>
            </a:r>
            <a:endParaRPr sz="1100">
              <a:latin typeface="Roboto"/>
              <a:cs typeface="Roboto"/>
            </a:endParaRPr>
          </a:p>
          <a:p>
            <a:pPr marL="243204" marR="5080">
              <a:lnSpc>
                <a:spcPct val="137400"/>
              </a:lnSpc>
              <a:spcBef>
                <a:spcPts val="420"/>
              </a:spcBef>
            </a:pP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Managing</a:t>
            </a:r>
            <a:r>
              <a:rPr sz="11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financial</a:t>
            </a:r>
            <a:r>
              <a:rPr sz="11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records,</a:t>
            </a:r>
            <a:r>
              <a:rPr sz="11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budgets,</a:t>
            </a:r>
            <a:r>
              <a:rPr sz="11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15203F"/>
                </a:solidFill>
                <a:latin typeface="Roboto"/>
                <a:cs typeface="Roboto"/>
              </a:rPr>
              <a:t>and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payroll.</a:t>
            </a:r>
            <a:endParaRPr sz="1100">
              <a:latin typeface="Roboto"/>
              <a:cs typeface="Roboto"/>
            </a:endParaRPr>
          </a:p>
          <a:p>
            <a:pPr marL="243204" marR="273685">
              <a:lnSpc>
                <a:spcPct val="137400"/>
              </a:lnSpc>
              <a:spcBef>
                <a:spcPts val="350"/>
              </a:spcBef>
            </a:pP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Maintaining</a:t>
            </a:r>
            <a:r>
              <a:rPr sz="11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1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official,</a:t>
            </a:r>
            <a:r>
              <a:rPr sz="11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35" dirty="0">
                <a:solidFill>
                  <a:srgbClr val="15203F"/>
                </a:solidFill>
                <a:latin typeface="Roboto"/>
                <a:cs typeface="Roboto"/>
              </a:rPr>
              <a:t>public-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facing </a:t>
            </a:r>
            <a:r>
              <a:rPr sz="1100" dirty="0">
                <a:solidFill>
                  <a:srgbClr val="15203F"/>
                </a:solidFill>
                <a:latin typeface="Roboto"/>
                <a:cs typeface="Roboto"/>
              </a:rPr>
              <a:t>university</a:t>
            </a:r>
            <a:r>
              <a:rPr sz="1100" spc="-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15203F"/>
                </a:solidFill>
                <a:latin typeface="Roboto"/>
                <a:cs typeface="Roboto"/>
              </a:rPr>
              <a:t>website.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599852"/>
            <a:ext cx="965454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140" dirty="0"/>
              <a:t>Societal</a:t>
            </a:r>
            <a:r>
              <a:rPr sz="3050" spc="105" dirty="0"/>
              <a:t> Impact: </a:t>
            </a:r>
            <a:r>
              <a:rPr sz="3050" spc="204" dirty="0"/>
              <a:t>What</a:t>
            </a:r>
            <a:r>
              <a:rPr sz="3050" spc="110" dirty="0"/>
              <a:t> </a:t>
            </a:r>
            <a:r>
              <a:rPr sz="3050" spc="165" dirty="0"/>
              <a:t>Happens</a:t>
            </a:r>
            <a:r>
              <a:rPr sz="3050" spc="105" dirty="0"/>
              <a:t> </a:t>
            </a:r>
            <a:r>
              <a:rPr sz="3050" spc="235" dirty="0"/>
              <a:t>When</a:t>
            </a:r>
            <a:r>
              <a:rPr sz="3050" spc="105" dirty="0"/>
              <a:t> </a:t>
            </a:r>
            <a:r>
              <a:rPr sz="3050" spc="135" dirty="0"/>
              <a:t>Routing</a:t>
            </a:r>
            <a:r>
              <a:rPr sz="3050" spc="110" dirty="0"/>
              <a:t> </a:t>
            </a:r>
            <a:r>
              <a:rPr sz="3050" spc="145" dirty="0"/>
              <a:t>Fails?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607466" y="1403953"/>
            <a:ext cx="8146415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Let'</a:t>
            </a:r>
            <a:r>
              <a:rPr lang="en-US" sz="1200" spc="-2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соn</a:t>
            </a:r>
            <a:r>
              <a:rPr lang="en-US" sz="120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ider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2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сenariо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demоn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trate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55" dirty="0">
                <a:solidFill>
                  <a:srgbClr val="15203F"/>
                </a:solidFill>
                <a:latin typeface="Roboto"/>
                <a:cs typeface="Roboto"/>
              </a:rPr>
              <a:t>real-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wоrld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соn</a:t>
            </a:r>
            <a:r>
              <a:rPr lang="en-US" sz="120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equenсe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оf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rоuting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failure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during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65" dirty="0">
                <a:solidFill>
                  <a:srgbClr val="15203F"/>
                </a:solidFill>
                <a:latin typeface="Roboto"/>
                <a:cs typeface="Roboto"/>
              </a:rPr>
              <a:t>high-</a:t>
            </a:r>
            <a:r>
              <a:rPr lang="en-US" sz="1200" spc="-65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take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event.</a:t>
            </a:r>
            <a:endParaRPr sz="1200" dirty="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19725" y="1828799"/>
            <a:ext cx="590550" cy="4000500"/>
            <a:chOff x="5419725" y="1828799"/>
            <a:chExt cx="590550" cy="4000500"/>
          </a:xfrm>
        </p:grpSpPr>
        <p:sp>
          <p:nvSpPr>
            <p:cNvPr id="5" name="object 5"/>
            <p:cNvSpPr/>
            <p:nvPr/>
          </p:nvSpPr>
          <p:spPr>
            <a:xfrm>
              <a:off x="5419725" y="1828799"/>
              <a:ext cx="314325" cy="4000500"/>
            </a:xfrm>
            <a:custGeom>
              <a:avLst/>
              <a:gdLst/>
              <a:ahLst/>
              <a:cxnLst/>
              <a:rect l="l" t="t" r="r" b="b"/>
              <a:pathLst>
                <a:path w="314325" h="4000500">
                  <a:moveTo>
                    <a:pt x="314325" y="168821"/>
                  </a:moveTo>
                  <a:lnTo>
                    <a:pt x="313397" y="166573"/>
                  </a:lnTo>
                  <a:lnTo>
                    <a:pt x="309676" y="162852"/>
                  </a:lnTo>
                  <a:lnTo>
                    <a:pt x="307428" y="161925"/>
                  </a:lnTo>
                  <a:lnTo>
                    <a:pt x="304800" y="161925"/>
                  </a:lnTo>
                  <a:lnTo>
                    <a:pt x="304800" y="6896"/>
                  </a:lnTo>
                  <a:lnTo>
                    <a:pt x="303872" y="4648"/>
                  </a:lnTo>
                  <a:lnTo>
                    <a:pt x="300151" y="927"/>
                  </a:lnTo>
                  <a:lnTo>
                    <a:pt x="297903" y="0"/>
                  </a:lnTo>
                  <a:lnTo>
                    <a:pt x="292646" y="0"/>
                  </a:lnTo>
                  <a:lnTo>
                    <a:pt x="290398" y="927"/>
                  </a:lnTo>
                  <a:lnTo>
                    <a:pt x="286664" y="4648"/>
                  </a:lnTo>
                  <a:lnTo>
                    <a:pt x="285750" y="6896"/>
                  </a:lnTo>
                  <a:lnTo>
                    <a:pt x="285750" y="161925"/>
                  </a:lnTo>
                  <a:lnTo>
                    <a:pt x="6896" y="161925"/>
                  </a:lnTo>
                  <a:lnTo>
                    <a:pt x="4648" y="162852"/>
                  </a:lnTo>
                  <a:lnTo>
                    <a:pt x="914" y="166573"/>
                  </a:lnTo>
                  <a:lnTo>
                    <a:pt x="0" y="168821"/>
                  </a:lnTo>
                  <a:lnTo>
                    <a:pt x="0" y="171450"/>
                  </a:lnTo>
                  <a:lnTo>
                    <a:pt x="0" y="174078"/>
                  </a:lnTo>
                  <a:lnTo>
                    <a:pt x="914" y="176326"/>
                  </a:lnTo>
                  <a:lnTo>
                    <a:pt x="4648" y="180047"/>
                  </a:lnTo>
                  <a:lnTo>
                    <a:pt x="6896" y="180975"/>
                  </a:lnTo>
                  <a:lnTo>
                    <a:pt x="285750" y="180975"/>
                  </a:lnTo>
                  <a:lnTo>
                    <a:pt x="285750" y="3990987"/>
                  </a:lnTo>
                  <a:lnTo>
                    <a:pt x="285750" y="3993616"/>
                  </a:lnTo>
                  <a:lnTo>
                    <a:pt x="286664" y="3995851"/>
                  </a:lnTo>
                  <a:lnTo>
                    <a:pt x="290398" y="3999573"/>
                  </a:lnTo>
                  <a:lnTo>
                    <a:pt x="292646" y="4000500"/>
                  </a:lnTo>
                  <a:lnTo>
                    <a:pt x="297903" y="4000500"/>
                  </a:lnTo>
                  <a:lnTo>
                    <a:pt x="300151" y="3999573"/>
                  </a:lnTo>
                  <a:lnTo>
                    <a:pt x="303872" y="3995851"/>
                  </a:lnTo>
                  <a:lnTo>
                    <a:pt x="304800" y="3993616"/>
                  </a:lnTo>
                  <a:lnTo>
                    <a:pt x="304800" y="180975"/>
                  </a:lnTo>
                  <a:lnTo>
                    <a:pt x="307428" y="180975"/>
                  </a:lnTo>
                  <a:lnTo>
                    <a:pt x="309676" y="180047"/>
                  </a:lnTo>
                  <a:lnTo>
                    <a:pt x="313397" y="176326"/>
                  </a:lnTo>
                  <a:lnTo>
                    <a:pt x="314325" y="174078"/>
                  </a:lnTo>
                  <a:lnTo>
                    <a:pt x="314325" y="168821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6884" y="1942134"/>
              <a:ext cx="114299" cy="114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95950" y="2924174"/>
              <a:ext cx="314325" cy="19050"/>
            </a:xfrm>
            <a:custGeom>
              <a:avLst/>
              <a:gdLst/>
              <a:ahLst/>
              <a:cxnLst/>
              <a:rect l="l" t="t" r="r" b="b"/>
              <a:pathLst>
                <a:path w="314325" h="19050">
                  <a:moveTo>
                    <a:pt x="3074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307428" y="19050"/>
                  </a:lnTo>
                  <a:lnTo>
                    <a:pt x="309676" y="18122"/>
                  </a:lnTo>
                  <a:lnTo>
                    <a:pt x="313397" y="14401"/>
                  </a:lnTo>
                  <a:lnTo>
                    <a:pt x="314325" y="12153"/>
                  </a:lnTo>
                  <a:lnTo>
                    <a:pt x="314325" y="6896"/>
                  </a:lnTo>
                  <a:lnTo>
                    <a:pt x="313397" y="4648"/>
                  </a:lnTo>
                  <a:lnTo>
                    <a:pt x="309676" y="927"/>
                  </a:lnTo>
                  <a:lnTo>
                    <a:pt x="307428" y="0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6884" y="2875584"/>
              <a:ext cx="114299" cy="1142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9725" y="3771899"/>
              <a:ext cx="314325" cy="19050"/>
            </a:xfrm>
            <a:custGeom>
              <a:avLst/>
              <a:gdLst/>
              <a:ahLst/>
              <a:cxnLst/>
              <a:rect l="l" t="t" r="r" b="b"/>
              <a:pathLst>
                <a:path w="314325" h="19050">
                  <a:moveTo>
                    <a:pt x="3074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307428" y="19050"/>
                  </a:lnTo>
                  <a:lnTo>
                    <a:pt x="309676" y="18122"/>
                  </a:lnTo>
                  <a:lnTo>
                    <a:pt x="313397" y="14401"/>
                  </a:lnTo>
                  <a:lnTo>
                    <a:pt x="314325" y="12153"/>
                  </a:lnTo>
                  <a:lnTo>
                    <a:pt x="314325" y="6896"/>
                  </a:lnTo>
                  <a:lnTo>
                    <a:pt x="313397" y="4648"/>
                  </a:lnTo>
                  <a:lnTo>
                    <a:pt x="309676" y="927"/>
                  </a:lnTo>
                  <a:lnTo>
                    <a:pt x="307428" y="0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6884" y="3723309"/>
              <a:ext cx="114299" cy="1142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695950" y="4610099"/>
              <a:ext cx="314325" cy="19050"/>
            </a:xfrm>
            <a:custGeom>
              <a:avLst/>
              <a:gdLst/>
              <a:ahLst/>
              <a:cxnLst/>
              <a:rect l="l" t="t" r="r" b="b"/>
              <a:pathLst>
                <a:path w="314325" h="19050">
                  <a:moveTo>
                    <a:pt x="3074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307428" y="19050"/>
                  </a:lnTo>
                  <a:lnTo>
                    <a:pt x="309676" y="18122"/>
                  </a:lnTo>
                  <a:lnTo>
                    <a:pt x="313397" y="14401"/>
                  </a:lnTo>
                  <a:lnTo>
                    <a:pt x="314325" y="12153"/>
                  </a:lnTo>
                  <a:lnTo>
                    <a:pt x="314325" y="6896"/>
                  </a:lnTo>
                  <a:lnTo>
                    <a:pt x="313397" y="4648"/>
                  </a:lnTo>
                  <a:lnTo>
                    <a:pt x="309676" y="927"/>
                  </a:lnTo>
                  <a:lnTo>
                    <a:pt x="307428" y="0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56884" y="4561509"/>
              <a:ext cx="114299" cy="12382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43780" y="1860486"/>
            <a:ext cx="4464050" cy="10693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5"/>
              </a:spcBef>
            </a:pPr>
            <a:r>
              <a:rPr sz="1500" spc="85" dirty="0">
                <a:solidFill>
                  <a:srgbClr val="15203F"/>
                </a:solidFill>
                <a:latin typeface="Cambria"/>
                <a:cs typeface="Cambria"/>
              </a:rPr>
              <a:t>Happenings</a:t>
            </a:r>
            <a:endParaRPr sz="1500" dirty="0">
              <a:latin typeface="Cambria"/>
              <a:cs typeface="Cambria"/>
            </a:endParaRPr>
          </a:p>
          <a:p>
            <a:pPr marL="12700" marR="5080" indent="21590" algn="r">
              <a:lnSpc>
                <a:spcPct val="135400"/>
              </a:lnSpc>
              <a:spcBef>
                <a:spcPts val="54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оnline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exam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prоgre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primary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netwоrk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link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between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CSE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department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Admin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building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(where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erver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US" sz="1200" spc="-25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)</a:t>
            </a:r>
            <a:endParaRPr sz="1200" dirty="0">
              <a:latin typeface="Roboto"/>
              <a:cs typeface="Roboto"/>
            </a:endParaRPr>
          </a:p>
          <a:p>
            <a:pPr marR="5080" algn="r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сut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due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tо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соn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truсtiоn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damage.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2466" y="2793936"/>
            <a:ext cx="4341495" cy="1307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solidFill>
                  <a:srgbClr val="15203F"/>
                </a:solidFill>
                <a:latin typeface="Cambria"/>
                <a:cs typeface="Cambria"/>
              </a:rPr>
              <a:t>RIP's</a:t>
            </a:r>
            <a:r>
              <a:rPr sz="1500" spc="17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500" spc="95" dirty="0">
                <a:solidFill>
                  <a:srgbClr val="15203F"/>
                </a:solidFill>
                <a:latin typeface="Cambria"/>
                <a:cs typeface="Cambria"/>
              </a:rPr>
              <a:t>Slowness</a:t>
            </a:r>
            <a:r>
              <a:rPr sz="1500" spc="17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500" spc="35" dirty="0">
                <a:solidFill>
                  <a:srgbClr val="15203F"/>
                </a:solidFill>
                <a:latin typeface="Cambria"/>
                <a:cs typeface="Cambria"/>
              </a:rPr>
              <a:t>(Convergence)</a:t>
            </a:r>
            <a:endParaRPr sz="1500" dirty="0">
              <a:latin typeface="Cambria"/>
              <a:cs typeface="Cambria"/>
            </a:endParaRPr>
          </a:p>
          <a:p>
            <a:pPr marL="12700" marR="5080">
              <a:lnSpc>
                <a:spcPct val="133600"/>
              </a:lnSpc>
              <a:spcBef>
                <a:spcPts val="490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baсkup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link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exi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via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Library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building.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Hоwever,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RIP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update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are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25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lоw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tо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50" i="1" spc="-40" dirty="0">
                <a:solidFill>
                  <a:srgbClr val="15203F"/>
                </a:solidFill>
                <a:latin typeface="Roboto"/>
                <a:cs typeface="Roboto"/>
              </a:rPr>
              <a:t>"соnverge"</a:t>
            </a:r>
            <a:r>
              <a:rPr sz="1250" i="1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(update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rоuter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with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new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tоpоlоgy).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default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75" dirty="0">
                <a:solidFill>
                  <a:srgbClr val="15203F"/>
                </a:solidFill>
                <a:latin typeface="Roboto"/>
                <a:cs typeface="Roboto"/>
              </a:rPr>
              <a:t>30-</a:t>
            </a:r>
            <a:r>
              <a:rPr lang="en-US" sz="1200" spc="-75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eсоnd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brоadсa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t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interval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mean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di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соvery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nоt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tant.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4458" y="3641661"/>
            <a:ext cx="4333240" cy="812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05100">
              <a:lnSpc>
                <a:spcPct val="100000"/>
              </a:lnSpc>
              <a:spcBef>
                <a:spcPts val="125"/>
              </a:spcBef>
            </a:pPr>
            <a:r>
              <a:rPr sz="1500" spc="110" dirty="0">
                <a:solidFill>
                  <a:srgbClr val="15203F"/>
                </a:solidFill>
                <a:latin typeface="Cambria"/>
                <a:cs typeface="Cambria"/>
              </a:rPr>
              <a:t>The</a:t>
            </a:r>
            <a:r>
              <a:rPr sz="1500" spc="4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500" spc="75" dirty="0">
                <a:solidFill>
                  <a:srgbClr val="15203F"/>
                </a:solidFill>
                <a:latin typeface="Cambria"/>
                <a:cs typeface="Cambria"/>
              </a:rPr>
              <a:t>Consequence</a:t>
            </a:r>
            <a:endParaRPr sz="1500" dirty="0">
              <a:latin typeface="Cambria"/>
              <a:cs typeface="Cambria"/>
            </a:endParaRPr>
          </a:p>
          <a:p>
            <a:pPr marL="31750" marR="5080" indent="-19685">
              <a:lnSpc>
                <a:spcPct val="135400"/>
              </a:lnSpc>
              <a:spcBef>
                <a:spcPts val="465"/>
              </a:spcBef>
            </a:pP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Fоr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35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everal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сritiсal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minute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,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CSE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rоuter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3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till</a:t>
            </a:r>
            <a:r>
              <a:rPr sz="120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attempt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tо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u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the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dead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link.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Every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tudent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di</a:t>
            </a:r>
            <a:r>
              <a:rPr lang="en-US" sz="120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соnneсted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frоm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exam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erver.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2466" y="4489386"/>
            <a:ext cx="4401185" cy="1307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110" dirty="0">
                <a:solidFill>
                  <a:srgbClr val="15203F"/>
                </a:solidFill>
                <a:latin typeface="Cambria"/>
                <a:cs typeface="Cambria"/>
              </a:rPr>
              <a:t>Academic</a:t>
            </a:r>
            <a:r>
              <a:rPr sz="1500" spc="7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15203F"/>
                </a:solidFill>
                <a:latin typeface="Cambria"/>
                <a:cs typeface="Cambria"/>
              </a:rPr>
              <a:t>Disruption</a:t>
            </a:r>
            <a:endParaRPr sz="1500" dirty="0">
              <a:latin typeface="Cambria"/>
              <a:cs typeface="Cambria"/>
            </a:endParaRPr>
          </a:p>
          <a:p>
            <a:pPr marL="12700" marR="5080">
              <a:lnSpc>
                <a:spcPct val="135400"/>
              </a:lnSpc>
              <a:spcBef>
                <a:spcPts val="46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ult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ma</a:t>
            </a:r>
            <a:r>
              <a:rPr lang="en-US" sz="1200" dirty="0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ive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tudent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tr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ess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,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pоtential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aсademiс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ue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,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 immediate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di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ruptiоn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 оf the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univer</a:t>
            </a:r>
            <a:r>
              <a:rPr lang="en-US" sz="1200" spc="-25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ity'</a:t>
            </a:r>
            <a:r>
              <a:rPr lang="en-US" sz="1200" spc="-25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 соre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aсademiс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funсtiоn.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teсhniсal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failure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beсоme</a:t>
            </a:r>
            <a:r>
              <a:rPr lang="en-US" sz="120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ignifiсant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titutiоnal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сri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endParaRPr sz="12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771302"/>
            <a:ext cx="910971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200" dirty="0"/>
              <a:t>The</a:t>
            </a:r>
            <a:r>
              <a:rPr sz="3050" spc="125" dirty="0"/>
              <a:t> </a:t>
            </a:r>
            <a:r>
              <a:rPr sz="3050" dirty="0"/>
              <a:t>"Green"</a:t>
            </a:r>
            <a:r>
              <a:rPr sz="3050" spc="135" dirty="0"/>
              <a:t> </a:t>
            </a:r>
            <a:r>
              <a:rPr sz="3050" spc="105" dirty="0"/>
              <a:t>Network:</a:t>
            </a:r>
            <a:r>
              <a:rPr sz="3050" spc="135" dirty="0"/>
              <a:t> </a:t>
            </a:r>
            <a:r>
              <a:rPr sz="3050" spc="150" dirty="0"/>
              <a:t>Energy</a:t>
            </a:r>
            <a:r>
              <a:rPr sz="3050" spc="135" dirty="0"/>
              <a:t> </a:t>
            </a:r>
            <a:r>
              <a:rPr sz="3050" spc="80" dirty="0"/>
              <a:t>Footprint</a:t>
            </a:r>
            <a:r>
              <a:rPr sz="3050" spc="140" dirty="0"/>
              <a:t> </a:t>
            </a:r>
            <a:r>
              <a:rPr sz="3050" spc="95" dirty="0"/>
              <a:t>of</a:t>
            </a:r>
            <a:r>
              <a:rPr sz="3050" spc="135" dirty="0"/>
              <a:t> </a:t>
            </a:r>
            <a:r>
              <a:rPr sz="3050" spc="125" dirty="0"/>
              <a:t>Routing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607466" y="1513719"/>
            <a:ext cx="10032365" cy="1196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deviсe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—router</a:t>
            </a:r>
            <a:r>
              <a:rPr lang="en-US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, 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witсhe</a:t>
            </a:r>
            <a:r>
              <a:rPr lang="en-US" sz="1200" spc="-10" dirty="0" err="1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,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US" sz="1200" spc="-2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erver</a:t>
            </a:r>
            <a:r>
              <a:rPr lang="en-IN" sz="1200" spc="-2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—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сon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ume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eleсtriсity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24/7,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сontributing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ignifiсantly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 err="1">
                <a:solidFill>
                  <a:srgbClr val="15203F"/>
                </a:solidFill>
                <a:latin typeface="Roboto"/>
                <a:cs typeface="Roboto"/>
              </a:rPr>
              <a:t>univer</a:t>
            </a:r>
            <a:r>
              <a:rPr lang="en-IN" sz="1200" spc="-25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5" dirty="0" err="1">
                <a:solidFill>
                  <a:srgbClr val="15203F"/>
                </a:solidFill>
                <a:latin typeface="Roboto"/>
                <a:cs typeface="Roboto"/>
              </a:rPr>
              <a:t>ity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'</a:t>
            </a:r>
            <a:r>
              <a:rPr lang="en-IN" sz="1200" spc="-25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overall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сarbon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footprint.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de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igner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,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mu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aссount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thi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environmental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сo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t.</a:t>
            </a:r>
            <a:endParaRPr sz="1200" dirty="0">
              <a:latin typeface="Roboto"/>
              <a:cs typeface="Roboto"/>
            </a:endParaRPr>
          </a:p>
          <a:p>
            <a:pPr marL="12700" marR="508634">
              <a:lnSpc>
                <a:spcPct val="140600"/>
              </a:lnSpc>
              <a:spcBef>
                <a:spcPts val="127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router'</a:t>
            </a:r>
            <a:r>
              <a:rPr lang="en-IN" sz="1200" spc="-2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energy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u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direсtly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proportional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3157B7"/>
                </a:solidFill>
                <a:latin typeface="Roboto"/>
                <a:cs typeface="Roboto"/>
              </a:rPr>
              <a:t>CPU</a:t>
            </a:r>
            <a:r>
              <a:rPr sz="1200" spc="-20" dirty="0">
                <a:solidFill>
                  <a:srgbClr val="3157B7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3157B7"/>
                </a:solidFill>
                <a:latin typeface="Roboto"/>
                <a:cs typeface="Roboto"/>
              </a:rPr>
              <a:t>(Central</a:t>
            </a:r>
            <a:r>
              <a:rPr sz="1200" spc="-20" dirty="0">
                <a:solidFill>
                  <a:srgbClr val="3157B7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3157B7"/>
                </a:solidFill>
                <a:latin typeface="Roboto"/>
                <a:cs typeface="Roboto"/>
              </a:rPr>
              <a:t>Processing</a:t>
            </a:r>
            <a:r>
              <a:rPr sz="1200" spc="-20" dirty="0">
                <a:solidFill>
                  <a:srgbClr val="3157B7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3157B7"/>
                </a:solidFill>
                <a:latin typeface="Roboto"/>
                <a:cs typeface="Roboto"/>
              </a:rPr>
              <a:t>Unit)</a:t>
            </a:r>
            <a:r>
              <a:rPr sz="1200" spc="-20" dirty="0">
                <a:solidFill>
                  <a:srgbClr val="3157B7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3157B7"/>
                </a:solidFill>
                <a:latin typeface="Roboto"/>
                <a:cs typeface="Roboto"/>
              </a:rPr>
              <a:t>load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more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сomplex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ta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k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igned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router'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proсe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or,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more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power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draw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сhoiсe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protoсol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direсtly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impaсt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thi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load.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" y="36099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" y="44100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7700" y="47053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7466" y="3050444"/>
            <a:ext cx="4841875" cy="2032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100" dirty="0">
                <a:solidFill>
                  <a:srgbClr val="3157B7"/>
                </a:solidFill>
                <a:latin typeface="Cambria"/>
                <a:cs typeface="Cambria"/>
              </a:rPr>
              <a:t>Static</a:t>
            </a:r>
            <a:r>
              <a:rPr sz="1800" spc="70" dirty="0">
                <a:solidFill>
                  <a:srgbClr val="3157B7"/>
                </a:solidFill>
                <a:latin typeface="Cambria"/>
                <a:cs typeface="Cambria"/>
              </a:rPr>
              <a:t> Routing: </a:t>
            </a:r>
            <a:r>
              <a:rPr sz="1800" spc="120" dirty="0">
                <a:solidFill>
                  <a:srgbClr val="3157B7"/>
                </a:solidFill>
                <a:latin typeface="Cambria"/>
                <a:cs typeface="Cambria"/>
              </a:rPr>
              <a:t>Low</a:t>
            </a:r>
            <a:r>
              <a:rPr sz="1800" spc="70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3157B7"/>
                </a:solidFill>
                <a:latin typeface="Cambria"/>
                <a:cs typeface="Cambria"/>
              </a:rPr>
              <a:t>Energy</a:t>
            </a:r>
            <a:endParaRPr sz="1800" dirty="0">
              <a:latin typeface="Cambria"/>
              <a:cs typeface="Cambria"/>
            </a:endParaRPr>
          </a:p>
          <a:p>
            <a:pPr marL="260350" marR="5080">
              <a:lnSpc>
                <a:spcPct val="135400"/>
              </a:lnSpc>
              <a:spcBef>
                <a:spcPts val="1005"/>
              </a:spcBef>
            </a:pP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CPU</a:t>
            </a:r>
            <a:r>
              <a:rPr sz="1200" b="1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Usage:</a:t>
            </a:r>
            <a:r>
              <a:rPr sz="1200" b="1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Very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Low.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router'</a:t>
            </a:r>
            <a:r>
              <a:rPr lang="en-IN" sz="1200" spc="-2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'map'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i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сonfigured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onсe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("Set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it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forget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it"),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requiring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minimal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proсe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ing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power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path 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eleсtion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endParaRPr sz="1200" dirty="0">
              <a:latin typeface="Roboto"/>
              <a:cs typeface="Roboto"/>
            </a:endParaRPr>
          </a:p>
          <a:p>
            <a:pPr marL="260350">
              <a:lnSpc>
                <a:spcPct val="100000"/>
              </a:lnSpc>
              <a:spcBef>
                <a:spcPts val="960"/>
              </a:spcBef>
            </a:pP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200" b="1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Traffic: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Zero.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сreate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 no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baсkground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ignaling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traffiс.</a:t>
            </a:r>
            <a:endParaRPr sz="1200" dirty="0">
              <a:latin typeface="Roboto"/>
              <a:cs typeface="Roboto"/>
            </a:endParaRPr>
          </a:p>
          <a:p>
            <a:pPr marL="260350" marR="563880">
              <a:lnSpc>
                <a:spcPct val="140600"/>
              </a:lnSpc>
              <a:spcBef>
                <a:spcPts val="300"/>
              </a:spcBef>
            </a:pP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Environmental Result:</a:t>
            </a:r>
            <a:r>
              <a:rPr sz="1200" b="1" spc="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Simple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proсe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ing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,</a:t>
            </a:r>
            <a:r>
              <a:rPr sz="1200" spc="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lowest </a:t>
            </a:r>
            <a:r>
              <a:rPr sz="1200" b="1" spc="-10" dirty="0">
                <a:solidFill>
                  <a:srgbClr val="15203F"/>
                </a:solidFill>
                <a:latin typeface="Roboto"/>
                <a:cs typeface="Roboto"/>
              </a:rPr>
              <a:t>energy consumption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34075" y="36099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34075" y="44100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34075" y="521017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9"/>
                </a:lnTo>
                <a:lnTo>
                  <a:pt x="0" y="20651"/>
                </a:lnTo>
                <a:lnTo>
                  <a:pt x="0" y="26967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67"/>
                </a:lnTo>
                <a:lnTo>
                  <a:pt x="47625" y="23812"/>
                </a:lnTo>
                <a:lnTo>
                  <a:pt x="47625" y="20651"/>
                </a:lnTo>
                <a:lnTo>
                  <a:pt x="30010" y="599"/>
                </a:lnTo>
                <a:lnTo>
                  <a:pt x="26962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00991" y="3050444"/>
            <a:ext cx="4724400" cy="2527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135" dirty="0">
                <a:solidFill>
                  <a:srgbClr val="3157B7"/>
                </a:solidFill>
                <a:latin typeface="Cambria"/>
                <a:cs typeface="Cambria"/>
              </a:rPr>
              <a:t>Dynamic</a:t>
            </a:r>
            <a:r>
              <a:rPr sz="1800" spc="5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3157B7"/>
                </a:solidFill>
                <a:latin typeface="Cambria"/>
                <a:cs typeface="Cambria"/>
              </a:rPr>
              <a:t>Routing</a:t>
            </a:r>
            <a:r>
              <a:rPr sz="1800" spc="5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3157B7"/>
                </a:solidFill>
                <a:latin typeface="Cambria"/>
                <a:cs typeface="Cambria"/>
              </a:rPr>
              <a:t>(RIP):</a:t>
            </a:r>
            <a:r>
              <a:rPr sz="1800" spc="5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3157B7"/>
                </a:solidFill>
                <a:latin typeface="Cambria"/>
                <a:cs typeface="Cambria"/>
              </a:rPr>
              <a:t>Higher</a:t>
            </a:r>
            <a:r>
              <a:rPr sz="1800" spc="55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3157B7"/>
                </a:solidFill>
                <a:latin typeface="Cambria"/>
                <a:cs typeface="Cambria"/>
              </a:rPr>
              <a:t>Energy</a:t>
            </a:r>
            <a:endParaRPr sz="1800" dirty="0">
              <a:latin typeface="Cambria"/>
              <a:cs typeface="Cambria"/>
            </a:endParaRPr>
          </a:p>
          <a:p>
            <a:pPr marL="260350" marR="76200" algn="just">
              <a:lnSpc>
                <a:spcPct val="135400"/>
              </a:lnSpc>
              <a:spcBef>
                <a:spcPts val="1005"/>
              </a:spcBef>
            </a:pP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CPU</a:t>
            </a:r>
            <a:r>
              <a:rPr sz="1200" b="1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Usage:</a:t>
            </a:r>
            <a:r>
              <a:rPr sz="1200" b="1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Higher.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CPU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mu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wake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up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dediсate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сyсle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every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30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eсond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proсe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broadсa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t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it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full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2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table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update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neighbor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endParaRPr sz="1200" dirty="0">
              <a:latin typeface="Roboto"/>
              <a:cs typeface="Roboto"/>
            </a:endParaRPr>
          </a:p>
          <a:p>
            <a:pPr marL="260350" marR="300355" algn="just">
              <a:lnSpc>
                <a:spcPct val="135400"/>
              </a:lnSpc>
              <a:spcBef>
                <a:spcPts val="450"/>
              </a:spcBef>
            </a:pP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200" b="1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Traffic: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Con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tant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baсkground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 сhatter from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periodiс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update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сon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uming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bandwidth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deviсe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power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aсro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the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network.</a:t>
            </a:r>
            <a:endParaRPr sz="1200" dirty="0">
              <a:latin typeface="Roboto"/>
              <a:cs typeface="Roboto"/>
            </a:endParaRPr>
          </a:p>
          <a:p>
            <a:pPr marL="260350" algn="just">
              <a:lnSpc>
                <a:spcPct val="100000"/>
              </a:lnSpc>
              <a:spcBef>
                <a:spcPts val="960"/>
              </a:spcBef>
            </a:pP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Environmental</a:t>
            </a:r>
            <a:r>
              <a:rPr sz="1200" b="1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Result:</a:t>
            </a:r>
            <a:r>
              <a:rPr sz="1200" b="1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 err="1">
                <a:solidFill>
                  <a:srgbClr val="15203F"/>
                </a:solidFill>
                <a:latin typeface="Roboto"/>
                <a:cs typeface="Roboto"/>
              </a:rPr>
              <a:t>Inсrea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ed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proсe</a:t>
            </a:r>
            <a:r>
              <a:rPr lang="en-IN" sz="1200" spc="-10" dirty="0">
                <a:solidFill>
                  <a:srgbClr val="15203F"/>
                </a:solidFill>
                <a:latin typeface="Roboto"/>
                <a:cs typeface="Roboto"/>
              </a:rPr>
              <a:t>ss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ing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 err="1">
                <a:solidFill>
                  <a:srgbClr val="15203F"/>
                </a:solidFill>
                <a:latin typeface="Roboto"/>
                <a:cs typeface="Roboto"/>
              </a:rPr>
              <a:t>aсtivity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lead</a:t>
            </a:r>
            <a:r>
              <a:rPr lang="en-IN" sz="1200" dirty="0">
                <a:solidFill>
                  <a:srgbClr val="15203F"/>
                </a:solidFill>
                <a:latin typeface="Roboto"/>
                <a:cs typeface="Roboto"/>
              </a:rPr>
              <a:t>s</a:t>
            </a:r>
            <a:r>
              <a:rPr sz="12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endParaRPr sz="1200" dirty="0">
              <a:latin typeface="Roboto"/>
              <a:cs typeface="Roboto"/>
            </a:endParaRPr>
          </a:p>
          <a:p>
            <a:pPr marL="260350" algn="just">
              <a:lnSpc>
                <a:spcPct val="100000"/>
              </a:lnSpc>
              <a:spcBef>
                <a:spcPts val="509"/>
              </a:spcBef>
            </a:pP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higher</a:t>
            </a:r>
            <a:r>
              <a:rPr sz="1200" b="1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15203F"/>
                </a:solidFill>
                <a:latin typeface="Roboto"/>
                <a:cs typeface="Roboto"/>
              </a:rPr>
              <a:t>energy</a:t>
            </a:r>
            <a:r>
              <a:rPr sz="1200" b="1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15203F"/>
                </a:solidFill>
                <a:latin typeface="Roboto"/>
                <a:cs typeface="Roboto"/>
              </a:rPr>
              <a:t>consumption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.</a:t>
            </a:r>
            <a:endParaRPr sz="12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913745" cy="6439535"/>
          </a:xfrm>
          <a:custGeom>
            <a:avLst/>
            <a:gdLst/>
            <a:ahLst/>
            <a:cxnLst/>
            <a:rect l="l" t="t" r="r" b="b"/>
            <a:pathLst>
              <a:path w="10913745" h="6439535">
                <a:moveTo>
                  <a:pt x="10913506" y="0"/>
                </a:moveTo>
                <a:lnTo>
                  <a:pt x="0" y="0"/>
                </a:lnTo>
                <a:lnTo>
                  <a:pt x="0" y="6438968"/>
                </a:lnTo>
                <a:lnTo>
                  <a:pt x="10913506" y="6438968"/>
                </a:lnTo>
                <a:lnTo>
                  <a:pt x="10913506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442" y="399375"/>
            <a:ext cx="9752330" cy="8944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ts val="3650"/>
              </a:lnSpc>
              <a:spcBef>
                <a:spcPts val="45"/>
              </a:spcBef>
            </a:pPr>
            <a:r>
              <a:rPr sz="2900" spc="190" dirty="0"/>
              <a:t>How</a:t>
            </a:r>
            <a:r>
              <a:rPr sz="2900" spc="100" dirty="0"/>
              <a:t> </a:t>
            </a:r>
            <a:r>
              <a:rPr sz="2900" spc="220" dirty="0"/>
              <a:t>Can</a:t>
            </a:r>
            <a:r>
              <a:rPr sz="2900" spc="105" dirty="0"/>
              <a:t> </a:t>
            </a:r>
            <a:r>
              <a:rPr sz="2900" spc="165" dirty="0"/>
              <a:t>We</a:t>
            </a:r>
            <a:r>
              <a:rPr sz="2900" spc="105" dirty="0"/>
              <a:t> </a:t>
            </a:r>
            <a:r>
              <a:rPr sz="2900" spc="80" dirty="0"/>
              <a:t>Be</a:t>
            </a:r>
            <a:r>
              <a:rPr sz="2900" spc="105" dirty="0"/>
              <a:t> </a:t>
            </a:r>
            <a:r>
              <a:rPr sz="2900" spc="140" dirty="0"/>
              <a:t>More</a:t>
            </a:r>
            <a:r>
              <a:rPr sz="2900" spc="105" dirty="0"/>
              <a:t> </a:t>
            </a:r>
            <a:r>
              <a:rPr sz="2900" spc="125" dirty="0"/>
              <a:t>`Green`?</a:t>
            </a:r>
            <a:r>
              <a:rPr sz="2900" spc="105" dirty="0"/>
              <a:t> </a:t>
            </a:r>
            <a:br>
              <a:rPr lang="en-US" sz="2900" spc="105" dirty="0"/>
            </a:br>
            <a:r>
              <a:rPr sz="2000" spc="145" dirty="0"/>
              <a:t>Energy</a:t>
            </a:r>
            <a:r>
              <a:rPr lang="en-US" sz="2000" spc="145" dirty="0"/>
              <a:t> </a:t>
            </a:r>
            <a:r>
              <a:rPr sz="2000" spc="145" dirty="0"/>
              <a:t>Efficient</a:t>
            </a:r>
            <a:r>
              <a:rPr sz="2000" spc="105" dirty="0"/>
              <a:t> </a:t>
            </a:r>
            <a:r>
              <a:rPr sz="2000" spc="130" dirty="0"/>
              <a:t>Routing </a:t>
            </a:r>
            <a:r>
              <a:rPr sz="2000" spc="135" dirty="0"/>
              <a:t>Practices</a:t>
            </a: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579430" y="1572068"/>
            <a:ext cx="9211945" cy="498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4900"/>
              </a:lnSpc>
              <a:spcBef>
                <a:spcPts val="95"/>
              </a:spcBef>
            </a:pP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Adopting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sustainable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practices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design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crucial.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Here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are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key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strategies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minimize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environmental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impact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campus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routing infrastructure.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1148" y="2273647"/>
            <a:ext cx="4792980" cy="1800860"/>
            <a:chOff x="591148" y="2273647"/>
            <a:chExt cx="4792980" cy="1800860"/>
          </a:xfrm>
        </p:grpSpPr>
        <p:sp>
          <p:nvSpPr>
            <p:cNvPr id="6" name="object 6"/>
            <p:cNvSpPr/>
            <p:nvPr/>
          </p:nvSpPr>
          <p:spPr>
            <a:xfrm>
              <a:off x="600242" y="2282741"/>
              <a:ext cx="4775200" cy="1783080"/>
            </a:xfrm>
            <a:custGeom>
              <a:avLst/>
              <a:gdLst/>
              <a:ahLst/>
              <a:cxnLst/>
              <a:rect l="l" t="t" r="r" b="b"/>
              <a:pathLst>
                <a:path w="4775200" h="1783079">
                  <a:moveTo>
                    <a:pt x="4767844" y="0"/>
                  </a:moveTo>
                  <a:lnTo>
                    <a:pt x="6811" y="0"/>
                  </a:lnTo>
                  <a:lnTo>
                    <a:pt x="4594" y="921"/>
                  </a:lnTo>
                  <a:lnTo>
                    <a:pt x="919" y="4595"/>
                  </a:lnTo>
                  <a:lnTo>
                    <a:pt x="0" y="6814"/>
                  </a:lnTo>
                  <a:lnTo>
                    <a:pt x="0" y="1773129"/>
                  </a:lnTo>
                  <a:lnTo>
                    <a:pt x="0" y="1775724"/>
                  </a:lnTo>
                  <a:lnTo>
                    <a:pt x="919" y="1777943"/>
                  </a:lnTo>
                  <a:lnTo>
                    <a:pt x="4594" y="1781617"/>
                  </a:lnTo>
                  <a:lnTo>
                    <a:pt x="6811" y="1782539"/>
                  </a:lnTo>
                  <a:lnTo>
                    <a:pt x="4767844" y="1782539"/>
                  </a:lnTo>
                  <a:lnTo>
                    <a:pt x="4770063" y="1781617"/>
                  </a:lnTo>
                  <a:lnTo>
                    <a:pt x="4773737" y="1777943"/>
                  </a:lnTo>
                  <a:lnTo>
                    <a:pt x="4774659" y="1775724"/>
                  </a:lnTo>
                  <a:lnTo>
                    <a:pt x="4774659" y="6814"/>
                  </a:lnTo>
                  <a:lnTo>
                    <a:pt x="4773737" y="4595"/>
                  </a:lnTo>
                  <a:lnTo>
                    <a:pt x="4770063" y="921"/>
                  </a:lnTo>
                  <a:lnTo>
                    <a:pt x="4767844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0242" y="2282741"/>
              <a:ext cx="4775200" cy="1783080"/>
            </a:xfrm>
            <a:custGeom>
              <a:avLst/>
              <a:gdLst/>
              <a:ahLst/>
              <a:cxnLst/>
              <a:rect l="l" t="t" r="r" b="b"/>
              <a:pathLst>
                <a:path w="4775200" h="1783079">
                  <a:moveTo>
                    <a:pt x="0" y="1773129"/>
                  </a:moveTo>
                  <a:lnTo>
                    <a:pt x="0" y="9409"/>
                  </a:lnTo>
                  <a:lnTo>
                    <a:pt x="0" y="6814"/>
                  </a:lnTo>
                  <a:lnTo>
                    <a:pt x="919" y="4595"/>
                  </a:lnTo>
                  <a:lnTo>
                    <a:pt x="2756" y="2752"/>
                  </a:lnTo>
                  <a:lnTo>
                    <a:pt x="4594" y="921"/>
                  </a:lnTo>
                  <a:lnTo>
                    <a:pt x="6811" y="0"/>
                  </a:lnTo>
                  <a:lnTo>
                    <a:pt x="9412" y="0"/>
                  </a:lnTo>
                  <a:lnTo>
                    <a:pt x="4765249" y="0"/>
                  </a:lnTo>
                  <a:lnTo>
                    <a:pt x="4767844" y="0"/>
                  </a:lnTo>
                  <a:lnTo>
                    <a:pt x="4770063" y="921"/>
                  </a:lnTo>
                  <a:lnTo>
                    <a:pt x="4771906" y="2752"/>
                  </a:lnTo>
                  <a:lnTo>
                    <a:pt x="4773737" y="4595"/>
                  </a:lnTo>
                  <a:lnTo>
                    <a:pt x="4774659" y="6814"/>
                  </a:lnTo>
                  <a:lnTo>
                    <a:pt x="4774659" y="9409"/>
                  </a:lnTo>
                  <a:lnTo>
                    <a:pt x="4774659" y="1773129"/>
                  </a:lnTo>
                  <a:lnTo>
                    <a:pt x="4774659" y="1775724"/>
                  </a:lnTo>
                  <a:lnTo>
                    <a:pt x="4773737" y="1777943"/>
                  </a:lnTo>
                  <a:lnTo>
                    <a:pt x="4771906" y="1779786"/>
                  </a:lnTo>
                  <a:lnTo>
                    <a:pt x="4770063" y="1781617"/>
                  </a:lnTo>
                  <a:lnTo>
                    <a:pt x="4767844" y="1782539"/>
                  </a:lnTo>
                  <a:lnTo>
                    <a:pt x="4765249" y="1782539"/>
                  </a:lnTo>
                  <a:lnTo>
                    <a:pt x="9412" y="1782539"/>
                  </a:lnTo>
                  <a:lnTo>
                    <a:pt x="6811" y="1782539"/>
                  </a:lnTo>
                  <a:lnTo>
                    <a:pt x="4594" y="1781617"/>
                  </a:lnTo>
                  <a:lnTo>
                    <a:pt x="2756" y="1779786"/>
                  </a:lnTo>
                  <a:lnTo>
                    <a:pt x="919" y="1777943"/>
                  </a:lnTo>
                  <a:lnTo>
                    <a:pt x="0" y="1775724"/>
                  </a:lnTo>
                  <a:lnTo>
                    <a:pt x="0" y="1773129"/>
                  </a:lnTo>
                  <a:close/>
                </a:path>
              </a:pathLst>
            </a:custGeom>
            <a:ln w="18189">
              <a:solidFill>
                <a:srgbClr val="CFD2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9337" y="2291836"/>
            <a:ext cx="4756785" cy="436880"/>
          </a:xfrm>
          <a:prstGeom prst="rect">
            <a:avLst/>
          </a:prstGeom>
          <a:solidFill>
            <a:srgbClr val="E9ECF2"/>
          </a:solidFill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750" spc="-315" dirty="0">
                <a:solidFill>
                  <a:srgbClr val="15203F"/>
                </a:solidFill>
                <a:latin typeface="Cambria"/>
                <a:cs typeface="Cambria"/>
              </a:rPr>
              <a:t>1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558" y="2867192"/>
            <a:ext cx="4445000" cy="1013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85" dirty="0">
                <a:solidFill>
                  <a:srgbClr val="15203F"/>
                </a:solidFill>
                <a:latin typeface="Cambria"/>
                <a:cs typeface="Cambria"/>
              </a:rPr>
              <a:t>Use</a:t>
            </a:r>
            <a:r>
              <a:rPr sz="145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15203F"/>
                </a:solidFill>
                <a:latin typeface="Cambria"/>
                <a:cs typeface="Cambria"/>
              </a:rPr>
              <a:t>Static</a:t>
            </a:r>
            <a:r>
              <a:rPr sz="145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65" dirty="0">
                <a:solidFill>
                  <a:srgbClr val="15203F"/>
                </a:solidFill>
                <a:latin typeface="Cambria"/>
                <a:cs typeface="Cambria"/>
              </a:rPr>
              <a:t>Routing</a:t>
            </a:r>
            <a:r>
              <a:rPr sz="145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65" dirty="0">
                <a:solidFill>
                  <a:srgbClr val="15203F"/>
                </a:solidFill>
                <a:latin typeface="Cambria"/>
                <a:cs typeface="Cambria"/>
              </a:rPr>
              <a:t>Where</a:t>
            </a:r>
            <a:r>
              <a:rPr sz="145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45" dirty="0">
                <a:solidFill>
                  <a:srgbClr val="15203F"/>
                </a:solidFill>
                <a:latin typeface="Cambria"/>
                <a:cs typeface="Cambria"/>
              </a:rPr>
              <a:t>Possible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4900"/>
              </a:lnSpc>
              <a:spcBef>
                <a:spcPts val="440"/>
              </a:spcBef>
            </a:pP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predictable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segments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(e.g.,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specific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servers,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small</a:t>
            </a:r>
            <a:r>
              <a:rPr sz="1150" spc="50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labs),</a:t>
            </a:r>
            <a:r>
              <a:rPr sz="115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15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consumes</a:t>
            </a:r>
            <a:r>
              <a:rPr sz="115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minimal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processing</a:t>
            </a:r>
            <a:r>
              <a:rPr sz="115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power,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making</a:t>
            </a:r>
            <a:r>
              <a:rPr sz="115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it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highly</a:t>
            </a:r>
            <a:r>
              <a:rPr sz="115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45" dirty="0">
                <a:solidFill>
                  <a:srgbClr val="15203F"/>
                </a:solidFill>
                <a:latin typeface="Roboto"/>
                <a:cs typeface="Roboto"/>
              </a:rPr>
              <a:t>energy-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efficient.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29509" y="2273647"/>
            <a:ext cx="4792980" cy="1800860"/>
            <a:chOff x="5529509" y="2273647"/>
            <a:chExt cx="4792980" cy="1800860"/>
          </a:xfrm>
        </p:grpSpPr>
        <p:sp>
          <p:nvSpPr>
            <p:cNvPr id="11" name="object 11"/>
            <p:cNvSpPr/>
            <p:nvPr/>
          </p:nvSpPr>
          <p:spPr>
            <a:xfrm>
              <a:off x="5538604" y="2282741"/>
              <a:ext cx="4775200" cy="1783080"/>
            </a:xfrm>
            <a:custGeom>
              <a:avLst/>
              <a:gdLst/>
              <a:ahLst/>
              <a:cxnLst/>
              <a:rect l="l" t="t" r="r" b="b"/>
              <a:pathLst>
                <a:path w="4775200" h="1783079">
                  <a:moveTo>
                    <a:pt x="4767844" y="0"/>
                  </a:moveTo>
                  <a:lnTo>
                    <a:pt x="6814" y="0"/>
                  </a:lnTo>
                  <a:lnTo>
                    <a:pt x="4595" y="921"/>
                  </a:lnTo>
                  <a:lnTo>
                    <a:pt x="921" y="4595"/>
                  </a:lnTo>
                  <a:lnTo>
                    <a:pt x="0" y="6814"/>
                  </a:lnTo>
                  <a:lnTo>
                    <a:pt x="0" y="1773129"/>
                  </a:lnTo>
                  <a:lnTo>
                    <a:pt x="0" y="1775724"/>
                  </a:lnTo>
                  <a:lnTo>
                    <a:pt x="921" y="1777943"/>
                  </a:lnTo>
                  <a:lnTo>
                    <a:pt x="4595" y="1781617"/>
                  </a:lnTo>
                  <a:lnTo>
                    <a:pt x="6814" y="1782539"/>
                  </a:lnTo>
                  <a:lnTo>
                    <a:pt x="4767844" y="1782539"/>
                  </a:lnTo>
                  <a:lnTo>
                    <a:pt x="4770063" y="1781617"/>
                  </a:lnTo>
                  <a:lnTo>
                    <a:pt x="4773737" y="1777943"/>
                  </a:lnTo>
                  <a:lnTo>
                    <a:pt x="4774659" y="1775724"/>
                  </a:lnTo>
                  <a:lnTo>
                    <a:pt x="4774659" y="6814"/>
                  </a:lnTo>
                  <a:lnTo>
                    <a:pt x="4773737" y="4595"/>
                  </a:lnTo>
                  <a:lnTo>
                    <a:pt x="4770063" y="921"/>
                  </a:lnTo>
                  <a:lnTo>
                    <a:pt x="4767844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38604" y="2282741"/>
              <a:ext cx="4775200" cy="1783080"/>
            </a:xfrm>
            <a:custGeom>
              <a:avLst/>
              <a:gdLst/>
              <a:ahLst/>
              <a:cxnLst/>
              <a:rect l="l" t="t" r="r" b="b"/>
              <a:pathLst>
                <a:path w="4775200" h="1783079">
                  <a:moveTo>
                    <a:pt x="0" y="1773129"/>
                  </a:moveTo>
                  <a:lnTo>
                    <a:pt x="0" y="9409"/>
                  </a:lnTo>
                  <a:lnTo>
                    <a:pt x="0" y="6814"/>
                  </a:lnTo>
                  <a:lnTo>
                    <a:pt x="921" y="4595"/>
                  </a:lnTo>
                  <a:lnTo>
                    <a:pt x="2752" y="2752"/>
                  </a:lnTo>
                  <a:lnTo>
                    <a:pt x="4595" y="921"/>
                  </a:lnTo>
                  <a:lnTo>
                    <a:pt x="6814" y="0"/>
                  </a:lnTo>
                  <a:lnTo>
                    <a:pt x="9409" y="0"/>
                  </a:lnTo>
                  <a:lnTo>
                    <a:pt x="4765249" y="0"/>
                  </a:lnTo>
                  <a:lnTo>
                    <a:pt x="4767844" y="0"/>
                  </a:lnTo>
                  <a:lnTo>
                    <a:pt x="4770063" y="921"/>
                  </a:lnTo>
                  <a:lnTo>
                    <a:pt x="4771906" y="2752"/>
                  </a:lnTo>
                  <a:lnTo>
                    <a:pt x="4773737" y="4595"/>
                  </a:lnTo>
                  <a:lnTo>
                    <a:pt x="4774659" y="6814"/>
                  </a:lnTo>
                  <a:lnTo>
                    <a:pt x="4774659" y="9409"/>
                  </a:lnTo>
                  <a:lnTo>
                    <a:pt x="4774659" y="1773129"/>
                  </a:lnTo>
                  <a:lnTo>
                    <a:pt x="4774659" y="1775724"/>
                  </a:lnTo>
                  <a:lnTo>
                    <a:pt x="4773737" y="1777943"/>
                  </a:lnTo>
                  <a:lnTo>
                    <a:pt x="4771906" y="1779786"/>
                  </a:lnTo>
                  <a:lnTo>
                    <a:pt x="4770063" y="1781617"/>
                  </a:lnTo>
                  <a:lnTo>
                    <a:pt x="4767844" y="1782539"/>
                  </a:lnTo>
                  <a:lnTo>
                    <a:pt x="4765249" y="1782539"/>
                  </a:lnTo>
                  <a:lnTo>
                    <a:pt x="9409" y="1782539"/>
                  </a:lnTo>
                  <a:lnTo>
                    <a:pt x="6814" y="1782539"/>
                  </a:lnTo>
                  <a:lnTo>
                    <a:pt x="4595" y="1781617"/>
                  </a:lnTo>
                  <a:lnTo>
                    <a:pt x="2752" y="1779786"/>
                  </a:lnTo>
                  <a:lnTo>
                    <a:pt x="921" y="1777943"/>
                  </a:lnTo>
                  <a:lnTo>
                    <a:pt x="0" y="1775724"/>
                  </a:lnTo>
                  <a:lnTo>
                    <a:pt x="0" y="1773129"/>
                  </a:lnTo>
                  <a:close/>
                </a:path>
              </a:pathLst>
            </a:custGeom>
            <a:ln w="18189">
              <a:solidFill>
                <a:srgbClr val="CFD2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47698" y="2291836"/>
            <a:ext cx="4756785" cy="436880"/>
          </a:xfrm>
          <a:prstGeom prst="rect">
            <a:avLst/>
          </a:prstGeom>
          <a:solidFill>
            <a:srgbClr val="E9ECF2"/>
          </a:solidFill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750" spc="-50" dirty="0">
                <a:solidFill>
                  <a:srgbClr val="15203F"/>
                </a:solidFill>
                <a:latin typeface="Cambria"/>
                <a:cs typeface="Cambria"/>
              </a:rPr>
              <a:t>2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84065" y="2867192"/>
            <a:ext cx="4474845" cy="1013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50" dirty="0">
                <a:solidFill>
                  <a:srgbClr val="15203F"/>
                </a:solidFill>
                <a:latin typeface="Cambria"/>
                <a:cs typeface="Cambria"/>
              </a:rPr>
              <a:t>Optimize</a:t>
            </a:r>
            <a:r>
              <a:rPr sz="145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95" dirty="0">
                <a:solidFill>
                  <a:srgbClr val="15203F"/>
                </a:solidFill>
                <a:latin typeface="Cambria"/>
                <a:cs typeface="Cambria"/>
              </a:rPr>
              <a:t>Dynamic</a:t>
            </a:r>
            <a:r>
              <a:rPr sz="1450" spc="6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15203F"/>
                </a:solidFill>
                <a:latin typeface="Cambria"/>
                <a:cs typeface="Cambria"/>
              </a:rPr>
              <a:t>Routing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4900"/>
              </a:lnSpc>
              <a:spcBef>
                <a:spcPts val="440"/>
              </a:spcBef>
            </a:pP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modern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protocols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(beyond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RIP's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limitations),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adjust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update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timers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or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summarize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routes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decrease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CPU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load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reduce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energy consumption.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1148" y="4219889"/>
            <a:ext cx="4792980" cy="1810385"/>
            <a:chOff x="591148" y="4219889"/>
            <a:chExt cx="4792980" cy="1810385"/>
          </a:xfrm>
        </p:grpSpPr>
        <p:sp>
          <p:nvSpPr>
            <p:cNvPr id="16" name="object 16"/>
            <p:cNvSpPr/>
            <p:nvPr/>
          </p:nvSpPr>
          <p:spPr>
            <a:xfrm>
              <a:off x="600242" y="4228983"/>
              <a:ext cx="4775200" cy="1791970"/>
            </a:xfrm>
            <a:custGeom>
              <a:avLst/>
              <a:gdLst/>
              <a:ahLst/>
              <a:cxnLst/>
              <a:rect l="l" t="t" r="r" b="b"/>
              <a:pathLst>
                <a:path w="4775200" h="1791970">
                  <a:moveTo>
                    <a:pt x="4767844" y="0"/>
                  </a:moveTo>
                  <a:lnTo>
                    <a:pt x="6811" y="0"/>
                  </a:lnTo>
                  <a:lnTo>
                    <a:pt x="4594" y="921"/>
                  </a:lnTo>
                  <a:lnTo>
                    <a:pt x="919" y="4595"/>
                  </a:lnTo>
                  <a:lnTo>
                    <a:pt x="0" y="6814"/>
                  </a:lnTo>
                  <a:lnTo>
                    <a:pt x="0" y="1782222"/>
                  </a:lnTo>
                  <a:lnTo>
                    <a:pt x="0" y="1784819"/>
                  </a:lnTo>
                  <a:lnTo>
                    <a:pt x="919" y="1787040"/>
                  </a:lnTo>
                  <a:lnTo>
                    <a:pt x="4594" y="1790716"/>
                  </a:lnTo>
                  <a:lnTo>
                    <a:pt x="6811" y="1791635"/>
                  </a:lnTo>
                  <a:lnTo>
                    <a:pt x="4767844" y="1791635"/>
                  </a:lnTo>
                  <a:lnTo>
                    <a:pt x="4770063" y="1790716"/>
                  </a:lnTo>
                  <a:lnTo>
                    <a:pt x="4773737" y="1787040"/>
                  </a:lnTo>
                  <a:lnTo>
                    <a:pt x="4774659" y="1784819"/>
                  </a:lnTo>
                  <a:lnTo>
                    <a:pt x="4774659" y="6814"/>
                  </a:lnTo>
                  <a:lnTo>
                    <a:pt x="4773737" y="4595"/>
                  </a:lnTo>
                  <a:lnTo>
                    <a:pt x="4770063" y="921"/>
                  </a:lnTo>
                  <a:lnTo>
                    <a:pt x="4767844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0242" y="4228983"/>
              <a:ext cx="4775200" cy="1791970"/>
            </a:xfrm>
            <a:custGeom>
              <a:avLst/>
              <a:gdLst/>
              <a:ahLst/>
              <a:cxnLst/>
              <a:rect l="l" t="t" r="r" b="b"/>
              <a:pathLst>
                <a:path w="4775200" h="1791970">
                  <a:moveTo>
                    <a:pt x="0" y="1782222"/>
                  </a:moveTo>
                  <a:lnTo>
                    <a:pt x="0" y="9409"/>
                  </a:lnTo>
                  <a:lnTo>
                    <a:pt x="0" y="6814"/>
                  </a:lnTo>
                  <a:lnTo>
                    <a:pt x="919" y="4595"/>
                  </a:lnTo>
                  <a:lnTo>
                    <a:pt x="2756" y="2752"/>
                  </a:lnTo>
                  <a:lnTo>
                    <a:pt x="4594" y="921"/>
                  </a:lnTo>
                  <a:lnTo>
                    <a:pt x="6811" y="0"/>
                  </a:lnTo>
                  <a:lnTo>
                    <a:pt x="9412" y="0"/>
                  </a:lnTo>
                  <a:lnTo>
                    <a:pt x="4765249" y="0"/>
                  </a:lnTo>
                  <a:lnTo>
                    <a:pt x="4767844" y="0"/>
                  </a:lnTo>
                  <a:lnTo>
                    <a:pt x="4770063" y="921"/>
                  </a:lnTo>
                  <a:lnTo>
                    <a:pt x="4771906" y="2752"/>
                  </a:lnTo>
                  <a:lnTo>
                    <a:pt x="4773737" y="4595"/>
                  </a:lnTo>
                  <a:lnTo>
                    <a:pt x="4774659" y="6814"/>
                  </a:lnTo>
                  <a:lnTo>
                    <a:pt x="4774659" y="9409"/>
                  </a:lnTo>
                  <a:lnTo>
                    <a:pt x="4774659" y="1782222"/>
                  </a:lnTo>
                  <a:lnTo>
                    <a:pt x="4774659" y="1784819"/>
                  </a:lnTo>
                  <a:lnTo>
                    <a:pt x="4773737" y="1787040"/>
                  </a:lnTo>
                  <a:lnTo>
                    <a:pt x="4771906" y="1788872"/>
                  </a:lnTo>
                  <a:lnTo>
                    <a:pt x="4770063" y="1790716"/>
                  </a:lnTo>
                  <a:lnTo>
                    <a:pt x="4767844" y="1791635"/>
                  </a:lnTo>
                  <a:lnTo>
                    <a:pt x="4765249" y="1791635"/>
                  </a:lnTo>
                  <a:lnTo>
                    <a:pt x="9412" y="1791635"/>
                  </a:lnTo>
                  <a:lnTo>
                    <a:pt x="6811" y="1791635"/>
                  </a:lnTo>
                  <a:lnTo>
                    <a:pt x="4594" y="1790716"/>
                  </a:lnTo>
                  <a:lnTo>
                    <a:pt x="2756" y="1788872"/>
                  </a:lnTo>
                  <a:lnTo>
                    <a:pt x="919" y="1787040"/>
                  </a:lnTo>
                  <a:lnTo>
                    <a:pt x="0" y="1784819"/>
                  </a:lnTo>
                  <a:lnTo>
                    <a:pt x="0" y="1782222"/>
                  </a:lnTo>
                  <a:close/>
                </a:path>
              </a:pathLst>
            </a:custGeom>
            <a:ln w="18189">
              <a:solidFill>
                <a:srgbClr val="CFD2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9337" y="4238078"/>
            <a:ext cx="4756785" cy="445770"/>
          </a:xfrm>
          <a:prstGeom prst="rect">
            <a:avLst/>
          </a:prstGeom>
          <a:solidFill>
            <a:srgbClr val="E9ECF2"/>
          </a:solidFill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750" spc="-50" dirty="0">
                <a:solidFill>
                  <a:srgbClr val="15203F"/>
                </a:solidFill>
                <a:latin typeface="Cambria"/>
                <a:cs typeface="Cambria"/>
              </a:rPr>
              <a:t>3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5558" y="4822528"/>
            <a:ext cx="4382770" cy="1013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450" spc="80" dirty="0">
                <a:solidFill>
                  <a:srgbClr val="15203F"/>
                </a:solidFill>
                <a:latin typeface="Cambria"/>
                <a:cs typeface="Cambria"/>
              </a:rPr>
              <a:t>Shut</a:t>
            </a:r>
            <a:r>
              <a:rPr sz="145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15203F"/>
                </a:solidFill>
                <a:latin typeface="Cambria"/>
                <a:cs typeface="Cambria"/>
              </a:rPr>
              <a:t>Down</a:t>
            </a:r>
            <a:r>
              <a:rPr sz="145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85" dirty="0">
                <a:solidFill>
                  <a:srgbClr val="15203F"/>
                </a:solidFill>
                <a:latin typeface="Cambria"/>
                <a:cs typeface="Cambria"/>
              </a:rPr>
              <a:t>Unused</a:t>
            </a:r>
            <a:r>
              <a:rPr sz="145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-20" dirty="0">
                <a:solidFill>
                  <a:srgbClr val="15203F"/>
                </a:solidFill>
                <a:latin typeface="Cambria"/>
                <a:cs typeface="Cambria"/>
              </a:rPr>
              <a:t>Ports</a:t>
            </a:r>
            <a:endParaRPr sz="1450">
              <a:latin typeface="Cambria"/>
              <a:cs typeface="Cambria"/>
            </a:endParaRPr>
          </a:p>
          <a:p>
            <a:pPr marL="12700" marR="5080" algn="just">
              <a:lnSpc>
                <a:spcPct val="134900"/>
              </a:lnSpc>
              <a:spcBef>
                <a:spcPts val="440"/>
              </a:spcBef>
            </a:pP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Administratively</a:t>
            </a:r>
            <a:r>
              <a:rPr sz="115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disabling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unused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ports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on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routers</a:t>
            </a:r>
            <a:r>
              <a:rPr sz="115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switches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 is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straightforward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way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achieve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significant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energy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savings across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campus</a:t>
            </a:r>
            <a:r>
              <a:rPr sz="115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network.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29396" y="4219776"/>
            <a:ext cx="4793615" cy="1810385"/>
            <a:chOff x="5529396" y="4219776"/>
            <a:chExt cx="4793615" cy="1810385"/>
          </a:xfrm>
        </p:grpSpPr>
        <p:sp>
          <p:nvSpPr>
            <p:cNvPr id="21" name="object 21"/>
            <p:cNvSpPr/>
            <p:nvPr/>
          </p:nvSpPr>
          <p:spPr>
            <a:xfrm>
              <a:off x="5538604" y="4228983"/>
              <a:ext cx="4775200" cy="1791970"/>
            </a:xfrm>
            <a:custGeom>
              <a:avLst/>
              <a:gdLst/>
              <a:ahLst/>
              <a:cxnLst/>
              <a:rect l="l" t="t" r="r" b="b"/>
              <a:pathLst>
                <a:path w="4775200" h="1791970">
                  <a:moveTo>
                    <a:pt x="4767844" y="0"/>
                  </a:moveTo>
                  <a:lnTo>
                    <a:pt x="6814" y="0"/>
                  </a:lnTo>
                  <a:lnTo>
                    <a:pt x="4595" y="921"/>
                  </a:lnTo>
                  <a:lnTo>
                    <a:pt x="921" y="4595"/>
                  </a:lnTo>
                  <a:lnTo>
                    <a:pt x="0" y="6814"/>
                  </a:lnTo>
                  <a:lnTo>
                    <a:pt x="0" y="1782222"/>
                  </a:lnTo>
                  <a:lnTo>
                    <a:pt x="0" y="1784819"/>
                  </a:lnTo>
                  <a:lnTo>
                    <a:pt x="921" y="1787040"/>
                  </a:lnTo>
                  <a:lnTo>
                    <a:pt x="4595" y="1790716"/>
                  </a:lnTo>
                  <a:lnTo>
                    <a:pt x="6814" y="1791635"/>
                  </a:lnTo>
                  <a:lnTo>
                    <a:pt x="4767844" y="1791635"/>
                  </a:lnTo>
                  <a:lnTo>
                    <a:pt x="4770063" y="1790716"/>
                  </a:lnTo>
                  <a:lnTo>
                    <a:pt x="4773737" y="1787040"/>
                  </a:lnTo>
                  <a:lnTo>
                    <a:pt x="4774659" y="1784819"/>
                  </a:lnTo>
                  <a:lnTo>
                    <a:pt x="4774659" y="6814"/>
                  </a:lnTo>
                  <a:lnTo>
                    <a:pt x="4773737" y="4595"/>
                  </a:lnTo>
                  <a:lnTo>
                    <a:pt x="4770063" y="921"/>
                  </a:lnTo>
                  <a:lnTo>
                    <a:pt x="4767844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38604" y="4228983"/>
              <a:ext cx="4775200" cy="1791970"/>
            </a:xfrm>
            <a:custGeom>
              <a:avLst/>
              <a:gdLst/>
              <a:ahLst/>
              <a:cxnLst/>
              <a:rect l="l" t="t" r="r" b="b"/>
              <a:pathLst>
                <a:path w="4775200" h="1791970">
                  <a:moveTo>
                    <a:pt x="0" y="1782222"/>
                  </a:moveTo>
                  <a:lnTo>
                    <a:pt x="0" y="9409"/>
                  </a:lnTo>
                  <a:lnTo>
                    <a:pt x="0" y="6814"/>
                  </a:lnTo>
                  <a:lnTo>
                    <a:pt x="921" y="4595"/>
                  </a:lnTo>
                  <a:lnTo>
                    <a:pt x="2752" y="2752"/>
                  </a:lnTo>
                  <a:lnTo>
                    <a:pt x="4595" y="921"/>
                  </a:lnTo>
                  <a:lnTo>
                    <a:pt x="6814" y="0"/>
                  </a:lnTo>
                  <a:lnTo>
                    <a:pt x="9409" y="0"/>
                  </a:lnTo>
                  <a:lnTo>
                    <a:pt x="4765249" y="0"/>
                  </a:lnTo>
                  <a:lnTo>
                    <a:pt x="4767844" y="0"/>
                  </a:lnTo>
                  <a:lnTo>
                    <a:pt x="4770063" y="921"/>
                  </a:lnTo>
                  <a:lnTo>
                    <a:pt x="4771906" y="2752"/>
                  </a:lnTo>
                  <a:lnTo>
                    <a:pt x="4773737" y="4595"/>
                  </a:lnTo>
                  <a:lnTo>
                    <a:pt x="4774659" y="6814"/>
                  </a:lnTo>
                  <a:lnTo>
                    <a:pt x="4774659" y="9409"/>
                  </a:lnTo>
                  <a:lnTo>
                    <a:pt x="4774659" y="1782222"/>
                  </a:lnTo>
                  <a:lnTo>
                    <a:pt x="4774659" y="1784819"/>
                  </a:lnTo>
                  <a:lnTo>
                    <a:pt x="4773737" y="1787040"/>
                  </a:lnTo>
                  <a:lnTo>
                    <a:pt x="4771906" y="1788872"/>
                  </a:lnTo>
                  <a:lnTo>
                    <a:pt x="4770063" y="1790716"/>
                  </a:lnTo>
                  <a:lnTo>
                    <a:pt x="4767844" y="1791635"/>
                  </a:lnTo>
                  <a:lnTo>
                    <a:pt x="4765249" y="1791635"/>
                  </a:lnTo>
                  <a:lnTo>
                    <a:pt x="9409" y="1791635"/>
                  </a:lnTo>
                  <a:lnTo>
                    <a:pt x="6814" y="1791635"/>
                  </a:lnTo>
                  <a:lnTo>
                    <a:pt x="4595" y="1790716"/>
                  </a:lnTo>
                  <a:lnTo>
                    <a:pt x="2752" y="1788872"/>
                  </a:lnTo>
                  <a:lnTo>
                    <a:pt x="921" y="1787040"/>
                  </a:lnTo>
                  <a:lnTo>
                    <a:pt x="0" y="1784819"/>
                  </a:lnTo>
                  <a:lnTo>
                    <a:pt x="0" y="1782222"/>
                  </a:lnTo>
                  <a:close/>
                </a:path>
              </a:pathLst>
            </a:custGeom>
            <a:ln w="18189">
              <a:solidFill>
                <a:srgbClr val="CFD2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47698" y="4238078"/>
            <a:ext cx="4756785" cy="445770"/>
          </a:xfrm>
          <a:prstGeom prst="rect">
            <a:avLst/>
          </a:prstGeom>
          <a:solidFill>
            <a:srgbClr val="E9ECF2"/>
          </a:solidFill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750" spc="-50" dirty="0">
                <a:solidFill>
                  <a:srgbClr val="15203F"/>
                </a:solidFill>
                <a:latin typeface="Cambria"/>
                <a:cs typeface="Cambria"/>
              </a:rPr>
              <a:t>4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84065" y="4822528"/>
            <a:ext cx="4241165" cy="1013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50" dirty="0">
                <a:solidFill>
                  <a:srgbClr val="15203F"/>
                </a:solidFill>
                <a:latin typeface="Cambria"/>
                <a:cs typeface="Cambria"/>
              </a:rPr>
              <a:t>Invest</a:t>
            </a:r>
            <a:r>
              <a:rPr sz="1450" spc="4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95" dirty="0">
                <a:solidFill>
                  <a:srgbClr val="15203F"/>
                </a:solidFill>
                <a:latin typeface="Cambria"/>
                <a:cs typeface="Cambria"/>
              </a:rPr>
              <a:t>in</a:t>
            </a:r>
            <a:r>
              <a:rPr sz="1450" spc="5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450" spc="80" dirty="0">
                <a:solidFill>
                  <a:srgbClr val="15203F"/>
                </a:solidFill>
                <a:latin typeface="Cambria"/>
                <a:cs typeface="Cambria"/>
              </a:rPr>
              <a:t>Modern</a:t>
            </a:r>
            <a:r>
              <a:rPr sz="1450" spc="50" dirty="0">
                <a:solidFill>
                  <a:srgbClr val="15203F"/>
                </a:solidFill>
                <a:latin typeface="Cambria"/>
                <a:cs typeface="Cambria"/>
              </a:rPr>
              <a:t> Hardware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4900"/>
              </a:lnSpc>
              <a:spcBef>
                <a:spcPts val="440"/>
              </a:spcBef>
            </a:pP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Deploying</a:t>
            </a:r>
            <a:r>
              <a:rPr sz="115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newer</a:t>
            </a:r>
            <a:r>
              <a:rPr sz="1150" spc="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45" dirty="0">
                <a:solidFill>
                  <a:srgbClr val="15203F"/>
                </a:solidFill>
                <a:latin typeface="Roboto"/>
                <a:cs typeface="Roboto"/>
              </a:rPr>
              <a:t>"Energy-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Efficient</a:t>
            </a:r>
            <a:r>
              <a:rPr sz="1150" spc="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Ethernet"</a:t>
            </a:r>
            <a:r>
              <a:rPr sz="1150" spc="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(EEE)</a:t>
            </a:r>
            <a:r>
              <a:rPr sz="1150" spc="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devices automatically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reduces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power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consumption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during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periods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15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25" dirty="0">
                <a:solidFill>
                  <a:srgbClr val="15203F"/>
                </a:solidFill>
                <a:latin typeface="Roboto"/>
                <a:cs typeface="Roboto"/>
              </a:rPr>
              <a:t>low </a:t>
            </a:r>
            <a:r>
              <a:rPr sz="115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150" spc="-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Roboto"/>
                <a:cs typeface="Roboto"/>
              </a:rPr>
              <a:t>activity.</a:t>
            </a:r>
            <a:endParaRPr sz="1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609377"/>
            <a:ext cx="713105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105" dirty="0"/>
              <a:t>Best</a:t>
            </a:r>
            <a:r>
              <a:rPr sz="3050" spc="95" dirty="0"/>
              <a:t> </a:t>
            </a:r>
            <a:r>
              <a:rPr sz="3050" spc="110" dirty="0"/>
              <a:t>Practices:</a:t>
            </a:r>
            <a:r>
              <a:rPr sz="3050" spc="100" dirty="0"/>
              <a:t> </a:t>
            </a:r>
            <a:r>
              <a:rPr sz="3050" spc="170" dirty="0"/>
              <a:t>Choosing</a:t>
            </a:r>
            <a:r>
              <a:rPr sz="3050" spc="95" dirty="0"/>
              <a:t> </a:t>
            </a:r>
            <a:r>
              <a:rPr sz="3050" spc="125" dirty="0"/>
              <a:t>the</a:t>
            </a:r>
            <a:r>
              <a:rPr sz="3050" spc="100" dirty="0"/>
              <a:t> </a:t>
            </a:r>
            <a:r>
              <a:rPr sz="3050" spc="140" dirty="0"/>
              <a:t>Right</a:t>
            </a:r>
            <a:r>
              <a:rPr sz="3050" spc="95" dirty="0"/>
              <a:t> </a:t>
            </a:r>
            <a:r>
              <a:rPr sz="3050" spc="70" dirty="0"/>
              <a:t>Tool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607466" y="1361319"/>
            <a:ext cx="9365615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Selecting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optimal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method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involves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balancing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several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factors,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including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reliability,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complexity,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2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resource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consumption.</a:t>
            </a:r>
            <a:r>
              <a:rPr sz="1200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5203F"/>
                </a:solidFill>
                <a:latin typeface="Roboto"/>
                <a:cs typeface="Roboto"/>
              </a:rPr>
              <a:t>This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comparison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highlights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key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considerations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different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2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5203F"/>
                </a:solidFill>
                <a:latin typeface="Roboto"/>
                <a:cs typeface="Roboto"/>
              </a:rPr>
              <a:t>scenarios.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8649" y="2095500"/>
            <a:ext cx="2028825" cy="457200"/>
          </a:xfrm>
          <a:custGeom>
            <a:avLst/>
            <a:gdLst/>
            <a:ahLst/>
            <a:cxnLst/>
            <a:rect l="l" t="t" r="r" b="b"/>
            <a:pathLst>
              <a:path w="2028825" h="457200">
                <a:moveTo>
                  <a:pt x="2028824" y="0"/>
                </a:moveTo>
                <a:lnTo>
                  <a:pt x="14029" y="0"/>
                </a:lnTo>
                <a:lnTo>
                  <a:pt x="9460" y="1892"/>
                </a:lnTo>
                <a:lnTo>
                  <a:pt x="1889" y="9461"/>
                </a:lnTo>
                <a:lnTo>
                  <a:pt x="0" y="14033"/>
                </a:lnTo>
                <a:lnTo>
                  <a:pt x="0" y="457199"/>
                </a:lnTo>
                <a:lnTo>
                  <a:pt x="2028824" y="457199"/>
                </a:lnTo>
                <a:lnTo>
                  <a:pt x="2028824" y="0"/>
                </a:lnTo>
                <a:close/>
              </a:path>
            </a:pathLst>
          </a:custGeom>
          <a:solidFill>
            <a:srgbClr val="FFFFFF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58149" y="2095500"/>
            <a:ext cx="2743200" cy="457200"/>
          </a:xfrm>
          <a:custGeom>
            <a:avLst/>
            <a:gdLst/>
            <a:ahLst/>
            <a:cxnLst/>
            <a:rect l="l" t="t" r="r" b="b"/>
            <a:pathLst>
              <a:path w="2743200" h="457200">
                <a:moveTo>
                  <a:pt x="2729166" y="0"/>
                </a:moveTo>
                <a:lnTo>
                  <a:pt x="0" y="0"/>
                </a:lnTo>
                <a:lnTo>
                  <a:pt x="0" y="457199"/>
                </a:lnTo>
                <a:lnTo>
                  <a:pt x="2743199" y="457199"/>
                </a:lnTo>
                <a:lnTo>
                  <a:pt x="2743199" y="14033"/>
                </a:lnTo>
                <a:lnTo>
                  <a:pt x="2741307" y="9461"/>
                </a:lnTo>
                <a:lnTo>
                  <a:pt x="2733738" y="1892"/>
                </a:lnTo>
                <a:lnTo>
                  <a:pt x="2729166" y="0"/>
                </a:lnTo>
                <a:close/>
              </a:path>
            </a:pathLst>
          </a:custGeom>
          <a:solidFill>
            <a:srgbClr val="FFFFFF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649" y="5105400"/>
            <a:ext cx="2028825" cy="704850"/>
          </a:xfrm>
          <a:custGeom>
            <a:avLst/>
            <a:gdLst/>
            <a:ahLst/>
            <a:cxnLst/>
            <a:rect l="l" t="t" r="r" b="b"/>
            <a:pathLst>
              <a:path w="2028825" h="704850">
                <a:moveTo>
                  <a:pt x="2028824" y="0"/>
                </a:moveTo>
                <a:lnTo>
                  <a:pt x="0" y="0"/>
                </a:lnTo>
                <a:lnTo>
                  <a:pt x="0" y="690816"/>
                </a:lnTo>
                <a:lnTo>
                  <a:pt x="1889" y="695385"/>
                </a:lnTo>
                <a:lnTo>
                  <a:pt x="9460" y="702956"/>
                </a:lnTo>
                <a:lnTo>
                  <a:pt x="14029" y="704851"/>
                </a:lnTo>
                <a:lnTo>
                  <a:pt x="2028824" y="704851"/>
                </a:lnTo>
                <a:lnTo>
                  <a:pt x="2028824" y="0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58149" y="5105400"/>
            <a:ext cx="2743200" cy="704850"/>
          </a:xfrm>
          <a:custGeom>
            <a:avLst/>
            <a:gdLst/>
            <a:ahLst/>
            <a:cxnLst/>
            <a:rect l="l" t="t" r="r" b="b"/>
            <a:pathLst>
              <a:path w="2743200" h="704850">
                <a:moveTo>
                  <a:pt x="2743199" y="0"/>
                </a:moveTo>
                <a:lnTo>
                  <a:pt x="0" y="0"/>
                </a:lnTo>
                <a:lnTo>
                  <a:pt x="0" y="704851"/>
                </a:lnTo>
                <a:lnTo>
                  <a:pt x="2729166" y="704851"/>
                </a:lnTo>
                <a:lnTo>
                  <a:pt x="2733738" y="702956"/>
                </a:lnTo>
                <a:lnTo>
                  <a:pt x="2741307" y="695385"/>
                </a:lnTo>
                <a:lnTo>
                  <a:pt x="2743199" y="690816"/>
                </a:lnTo>
                <a:lnTo>
                  <a:pt x="2743199" y="0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16299" y="2082945"/>
          <a:ext cx="10182225" cy="372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645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Feature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8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Standard</a:t>
                      </a:r>
                      <a:r>
                        <a:rPr sz="1200" spc="-1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Static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Floating</a:t>
                      </a:r>
                      <a:r>
                        <a:rPr sz="1200" spc="-6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Static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Dynamic</a:t>
                      </a:r>
                      <a:r>
                        <a:rPr sz="1200" spc="-7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(RIP)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FBFCF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Reliability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143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192405" indent="-635">
                        <a:lnSpc>
                          <a:spcPct val="135400"/>
                        </a:lnSpc>
                        <a:spcBef>
                          <a:spcPts val="390"/>
                        </a:spcBef>
                      </a:pP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Low.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path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fails,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connectivity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1200" spc="-1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lost.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49530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 marR="740410">
                        <a:lnSpc>
                          <a:spcPct val="135400"/>
                        </a:lnSpc>
                        <a:spcBef>
                          <a:spcPts val="390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Medium.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Provides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one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3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pre-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configured</a:t>
                      </a:r>
                      <a:r>
                        <a:rPr sz="1200" spc="-5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backup</a:t>
                      </a:r>
                      <a:r>
                        <a:rPr sz="1200" spc="-5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path.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49530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 marR="197485">
                        <a:lnSpc>
                          <a:spcPct val="135400"/>
                        </a:lnSpc>
                        <a:spcBef>
                          <a:spcPts val="390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High.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Can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automatically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find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new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path</a:t>
                      </a:r>
                      <a:r>
                        <a:rPr sz="1200" spc="-1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if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one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fails.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49530" marB="0">
                    <a:lnL w="9525">
                      <a:solidFill>
                        <a:srgbClr val="FBFCF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Ease</a:t>
                      </a:r>
                      <a:r>
                        <a:rPr sz="1200" spc="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1200" spc="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Setup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363220" indent="-635">
                        <a:lnSpc>
                          <a:spcPct val="1354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Easy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(for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small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nets).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Hard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(for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large</a:t>
                      </a:r>
                      <a:r>
                        <a:rPr sz="1200" spc="-4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nets).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 marR="854710">
                        <a:lnSpc>
                          <a:spcPct val="1354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Moderate.</a:t>
                      </a:r>
                      <a:r>
                        <a:rPr sz="1200" spc="-4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Requires</a:t>
                      </a:r>
                      <a:r>
                        <a:rPr sz="1200" spc="-4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extra configuration.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 marR="441959">
                        <a:lnSpc>
                          <a:spcPct val="1354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Easy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(for small nets).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Becomes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complex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manage.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CPU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/</a:t>
                      </a:r>
                      <a:r>
                        <a:rPr sz="1200" spc="-1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Energy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Use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Very</a:t>
                      </a:r>
                      <a:r>
                        <a:rPr sz="1200" spc="-4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Low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Very</a:t>
                      </a:r>
                      <a:r>
                        <a:rPr sz="1200" spc="-4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Low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Higher.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Due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periodic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updates.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Best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Use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Case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215265" indent="-635">
                        <a:lnSpc>
                          <a:spcPct val="1354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Stub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networks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(e.g.,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single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lab),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security.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 marR="430530">
                        <a:lnSpc>
                          <a:spcPct val="1354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Critical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links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that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need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simple backup.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 marR="196850">
                        <a:lnSpc>
                          <a:spcPct val="1354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Complex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areas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network</a:t>
                      </a:r>
                      <a:r>
                        <a:rPr sz="1200" spc="-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with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multiple</a:t>
                      </a:r>
                      <a:r>
                        <a:rPr sz="1200" spc="-6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paths.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9295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Ethical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Risk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 marR="365760">
                        <a:lnSpc>
                          <a:spcPct val="1354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High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risk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human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error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(typo)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causing</a:t>
                      </a:r>
                      <a:r>
                        <a:rPr sz="1200" spc="-4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an</a:t>
                      </a:r>
                      <a:r>
                        <a:rPr sz="1200" spc="-4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outage.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 marR="450215">
                        <a:lnSpc>
                          <a:spcPct val="1354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Reduces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outage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risk,</a:t>
                      </a:r>
                      <a:r>
                        <a:rPr sz="1200" spc="-3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but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still manual.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9525">
                      <a:solidFill>
                        <a:srgbClr val="FBFCFE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0020" marR="506730">
                        <a:lnSpc>
                          <a:spcPct val="1354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Automates,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but</a:t>
                      </a:r>
                      <a:r>
                        <a:rPr sz="1200" spc="-25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can</a:t>
                      </a:r>
                      <a:r>
                        <a:rPr sz="1200" spc="-2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propagate </a:t>
                      </a:r>
                      <a:r>
                        <a:rPr sz="120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wrong</a:t>
                      </a:r>
                      <a:r>
                        <a:rPr sz="1200" spc="-6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200" spc="-10" dirty="0">
                          <a:solidFill>
                            <a:srgbClr val="15203F"/>
                          </a:solidFill>
                          <a:latin typeface="Roboto"/>
                          <a:cs typeface="Roboto"/>
                        </a:rPr>
                        <a:t>information.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FBFCF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50" cy="64357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7466" y="457930"/>
            <a:ext cx="4802734" cy="8305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5"/>
              </a:spcBef>
            </a:pPr>
            <a:r>
              <a:rPr sz="2600" spc="105" dirty="0"/>
              <a:t>Strategies</a:t>
            </a:r>
            <a:r>
              <a:rPr sz="2600" spc="125" dirty="0"/>
              <a:t> </a:t>
            </a:r>
            <a:r>
              <a:rPr sz="2600" dirty="0"/>
              <a:t>for</a:t>
            </a:r>
            <a:r>
              <a:rPr sz="2600" spc="120" dirty="0"/>
              <a:t> </a:t>
            </a:r>
            <a:r>
              <a:rPr sz="2600" spc="100" dirty="0"/>
              <a:t>a </a:t>
            </a:r>
            <a:r>
              <a:rPr sz="2600" spc="90" dirty="0"/>
              <a:t>Reliable</a:t>
            </a:r>
            <a:r>
              <a:rPr sz="2600" spc="70" dirty="0"/>
              <a:t> </a:t>
            </a:r>
            <a:r>
              <a:rPr sz="2600" spc="110" dirty="0"/>
              <a:t>Network</a:t>
            </a:r>
            <a:endParaRPr sz="2600" dirty="0"/>
          </a:p>
        </p:txBody>
      </p:sp>
      <p:sp>
        <p:nvSpPr>
          <p:cNvPr id="6" name="object 6"/>
          <p:cNvSpPr/>
          <p:nvPr/>
        </p:nvSpPr>
        <p:spPr>
          <a:xfrm>
            <a:off x="619125" y="1485899"/>
            <a:ext cx="523875" cy="971550"/>
          </a:xfrm>
          <a:custGeom>
            <a:avLst/>
            <a:gdLst/>
            <a:ahLst/>
            <a:cxnLst/>
            <a:rect l="l" t="t" r="r" b="b"/>
            <a:pathLst>
              <a:path w="523875" h="971550">
                <a:moveTo>
                  <a:pt x="261937" y="0"/>
                </a:moveTo>
                <a:lnTo>
                  <a:pt x="223503" y="2833"/>
                </a:lnTo>
                <a:lnTo>
                  <a:pt x="185901" y="11277"/>
                </a:lnTo>
                <a:lnTo>
                  <a:pt x="149943" y="25150"/>
                </a:lnTo>
                <a:lnTo>
                  <a:pt x="116413" y="44145"/>
                </a:lnTo>
                <a:lnTo>
                  <a:pt x="86031" y="67852"/>
                </a:lnTo>
                <a:lnTo>
                  <a:pt x="59456" y="95770"/>
                </a:lnTo>
                <a:lnTo>
                  <a:pt x="37267" y="127274"/>
                </a:lnTo>
                <a:lnTo>
                  <a:pt x="19937" y="161696"/>
                </a:lnTo>
                <a:lnTo>
                  <a:pt x="7851" y="198291"/>
                </a:lnTo>
                <a:lnTo>
                  <a:pt x="1259" y="236258"/>
                </a:lnTo>
                <a:lnTo>
                  <a:pt x="0" y="261937"/>
                </a:lnTo>
                <a:lnTo>
                  <a:pt x="0" y="709612"/>
                </a:lnTo>
                <a:lnTo>
                  <a:pt x="2835" y="748047"/>
                </a:lnTo>
                <a:lnTo>
                  <a:pt x="11281" y="785647"/>
                </a:lnTo>
                <a:lnTo>
                  <a:pt x="25148" y="821605"/>
                </a:lnTo>
                <a:lnTo>
                  <a:pt x="44142" y="855141"/>
                </a:lnTo>
                <a:lnTo>
                  <a:pt x="67854" y="885513"/>
                </a:lnTo>
                <a:lnTo>
                  <a:pt x="95765" y="912088"/>
                </a:lnTo>
                <a:lnTo>
                  <a:pt x="127274" y="934281"/>
                </a:lnTo>
                <a:lnTo>
                  <a:pt x="161696" y="951611"/>
                </a:lnTo>
                <a:lnTo>
                  <a:pt x="198292" y="963701"/>
                </a:lnTo>
                <a:lnTo>
                  <a:pt x="236264" y="970280"/>
                </a:lnTo>
                <a:lnTo>
                  <a:pt x="261937" y="971550"/>
                </a:lnTo>
                <a:lnTo>
                  <a:pt x="268366" y="971471"/>
                </a:lnTo>
                <a:lnTo>
                  <a:pt x="306717" y="967697"/>
                </a:lnTo>
                <a:lnTo>
                  <a:pt x="344104" y="958329"/>
                </a:lnTo>
                <a:lnTo>
                  <a:pt x="379707" y="943585"/>
                </a:lnTo>
                <a:lnTo>
                  <a:pt x="412764" y="923768"/>
                </a:lnTo>
                <a:lnTo>
                  <a:pt x="442551" y="899322"/>
                </a:lnTo>
                <a:lnTo>
                  <a:pt x="468436" y="870759"/>
                </a:lnTo>
                <a:lnTo>
                  <a:pt x="489843" y="838718"/>
                </a:lnTo>
                <a:lnTo>
                  <a:pt x="506325" y="803881"/>
                </a:lnTo>
                <a:lnTo>
                  <a:pt x="517508" y="767005"/>
                </a:lnTo>
                <a:lnTo>
                  <a:pt x="523165" y="728879"/>
                </a:lnTo>
                <a:lnTo>
                  <a:pt x="523875" y="709612"/>
                </a:lnTo>
                <a:lnTo>
                  <a:pt x="523875" y="261937"/>
                </a:lnTo>
                <a:lnTo>
                  <a:pt x="521039" y="223502"/>
                </a:lnTo>
                <a:lnTo>
                  <a:pt x="512593" y="185902"/>
                </a:lnTo>
                <a:lnTo>
                  <a:pt x="498726" y="149942"/>
                </a:lnTo>
                <a:lnTo>
                  <a:pt x="479732" y="116408"/>
                </a:lnTo>
                <a:lnTo>
                  <a:pt x="456020" y="86026"/>
                </a:lnTo>
                <a:lnTo>
                  <a:pt x="428109" y="59461"/>
                </a:lnTo>
                <a:lnTo>
                  <a:pt x="396600" y="37263"/>
                </a:lnTo>
                <a:lnTo>
                  <a:pt x="362178" y="19939"/>
                </a:lnTo>
                <a:lnTo>
                  <a:pt x="325582" y="7848"/>
                </a:lnTo>
                <a:lnTo>
                  <a:pt x="287610" y="1257"/>
                </a:lnTo>
                <a:lnTo>
                  <a:pt x="261937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0262" y="1565754"/>
            <a:ext cx="5677535" cy="74041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448309">
              <a:lnSpc>
                <a:spcPct val="100000"/>
              </a:lnSpc>
              <a:spcBef>
                <a:spcPts val="395"/>
              </a:spcBef>
            </a:pPr>
            <a:r>
              <a:rPr sz="1300" dirty="0">
                <a:solidFill>
                  <a:srgbClr val="15203F"/>
                </a:solidFill>
                <a:latin typeface="Cambria"/>
                <a:cs typeface="Cambria"/>
              </a:rPr>
              <a:t>Hybrid</a:t>
            </a:r>
            <a:r>
              <a:rPr sz="1300" spc="32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00" spc="50" dirty="0">
                <a:solidFill>
                  <a:srgbClr val="15203F"/>
                </a:solidFill>
                <a:latin typeface="Cambria"/>
                <a:cs typeface="Cambria"/>
              </a:rPr>
              <a:t>Approach</a:t>
            </a:r>
            <a:endParaRPr sz="1300">
              <a:latin typeface="Cambria"/>
              <a:cs typeface="Cambria"/>
            </a:endParaRPr>
          </a:p>
          <a:p>
            <a:pPr marL="448309" marR="5080" indent="-436245">
              <a:lnSpc>
                <a:spcPct val="118300"/>
              </a:lnSpc>
              <a:spcBef>
                <a:spcPts val="25"/>
              </a:spcBef>
              <a:tabLst>
                <a:tab pos="448309" algn="l"/>
              </a:tabLst>
            </a:pPr>
            <a:r>
              <a:rPr sz="2325" spc="-75" baseline="1792" dirty="0">
                <a:solidFill>
                  <a:srgbClr val="15203F"/>
                </a:solidFill>
                <a:latin typeface="Cambria"/>
                <a:cs typeface="Cambria"/>
              </a:rPr>
              <a:t>1</a:t>
            </a:r>
            <a:r>
              <a:rPr sz="2325" baseline="1792" dirty="0">
                <a:solidFill>
                  <a:srgbClr val="15203F"/>
                </a:solidFill>
                <a:latin typeface="Cambria"/>
                <a:cs typeface="Cambria"/>
              </a:rPr>
              <a:t>	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Combine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routes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predictable,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stable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areas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(e.g.,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critical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servers)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enhance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security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save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energy.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Utilize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dynamic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routes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complex,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changing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000" spc="3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segments.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125" y="2590799"/>
            <a:ext cx="523875" cy="971550"/>
          </a:xfrm>
          <a:custGeom>
            <a:avLst/>
            <a:gdLst/>
            <a:ahLst/>
            <a:cxnLst/>
            <a:rect l="l" t="t" r="r" b="b"/>
            <a:pathLst>
              <a:path w="523875" h="971550">
                <a:moveTo>
                  <a:pt x="261937" y="0"/>
                </a:moveTo>
                <a:lnTo>
                  <a:pt x="223503" y="2833"/>
                </a:lnTo>
                <a:lnTo>
                  <a:pt x="185901" y="11277"/>
                </a:lnTo>
                <a:lnTo>
                  <a:pt x="149943" y="25150"/>
                </a:lnTo>
                <a:lnTo>
                  <a:pt x="116413" y="44145"/>
                </a:lnTo>
                <a:lnTo>
                  <a:pt x="86031" y="67852"/>
                </a:lnTo>
                <a:lnTo>
                  <a:pt x="59456" y="95770"/>
                </a:lnTo>
                <a:lnTo>
                  <a:pt x="37267" y="127274"/>
                </a:lnTo>
                <a:lnTo>
                  <a:pt x="19937" y="161696"/>
                </a:lnTo>
                <a:lnTo>
                  <a:pt x="7851" y="198291"/>
                </a:lnTo>
                <a:lnTo>
                  <a:pt x="1259" y="236258"/>
                </a:lnTo>
                <a:lnTo>
                  <a:pt x="0" y="261937"/>
                </a:lnTo>
                <a:lnTo>
                  <a:pt x="0" y="709612"/>
                </a:lnTo>
                <a:lnTo>
                  <a:pt x="2835" y="748047"/>
                </a:lnTo>
                <a:lnTo>
                  <a:pt x="11281" y="785647"/>
                </a:lnTo>
                <a:lnTo>
                  <a:pt x="25148" y="821605"/>
                </a:lnTo>
                <a:lnTo>
                  <a:pt x="44142" y="855141"/>
                </a:lnTo>
                <a:lnTo>
                  <a:pt x="67854" y="885513"/>
                </a:lnTo>
                <a:lnTo>
                  <a:pt x="95765" y="912088"/>
                </a:lnTo>
                <a:lnTo>
                  <a:pt x="127274" y="934281"/>
                </a:lnTo>
                <a:lnTo>
                  <a:pt x="161696" y="951611"/>
                </a:lnTo>
                <a:lnTo>
                  <a:pt x="198292" y="963701"/>
                </a:lnTo>
                <a:lnTo>
                  <a:pt x="236264" y="970280"/>
                </a:lnTo>
                <a:lnTo>
                  <a:pt x="261937" y="971550"/>
                </a:lnTo>
                <a:lnTo>
                  <a:pt x="268366" y="971471"/>
                </a:lnTo>
                <a:lnTo>
                  <a:pt x="306717" y="967697"/>
                </a:lnTo>
                <a:lnTo>
                  <a:pt x="344104" y="958329"/>
                </a:lnTo>
                <a:lnTo>
                  <a:pt x="379707" y="943585"/>
                </a:lnTo>
                <a:lnTo>
                  <a:pt x="412764" y="923768"/>
                </a:lnTo>
                <a:lnTo>
                  <a:pt x="442551" y="899322"/>
                </a:lnTo>
                <a:lnTo>
                  <a:pt x="468436" y="870759"/>
                </a:lnTo>
                <a:lnTo>
                  <a:pt x="489843" y="838718"/>
                </a:lnTo>
                <a:lnTo>
                  <a:pt x="506325" y="803881"/>
                </a:lnTo>
                <a:lnTo>
                  <a:pt x="517508" y="767005"/>
                </a:lnTo>
                <a:lnTo>
                  <a:pt x="523165" y="728879"/>
                </a:lnTo>
                <a:lnTo>
                  <a:pt x="523875" y="709612"/>
                </a:lnTo>
                <a:lnTo>
                  <a:pt x="523875" y="261937"/>
                </a:lnTo>
                <a:lnTo>
                  <a:pt x="521039" y="223502"/>
                </a:lnTo>
                <a:lnTo>
                  <a:pt x="512593" y="185902"/>
                </a:lnTo>
                <a:lnTo>
                  <a:pt x="498726" y="149942"/>
                </a:lnTo>
                <a:lnTo>
                  <a:pt x="479732" y="116408"/>
                </a:lnTo>
                <a:lnTo>
                  <a:pt x="456020" y="86026"/>
                </a:lnTo>
                <a:lnTo>
                  <a:pt x="428109" y="59461"/>
                </a:lnTo>
                <a:lnTo>
                  <a:pt x="396600" y="37263"/>
                </a:lnTo>
                <a:lnTo>
                  <a:pt x="362178" y="19939"/>
                </a:lnTo>
                <a:lnTo>
                  <a:pt x="325582" y="7848"/>
                </a:lnTo>
                <a:lnTo>
                  <a:pt x="287610" y="1257"/>
                </a:lnTo>
                <a:lnTo>
                  <a:pt x="261937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6422" y="2932906"/>
            <a:ext cx="13462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0" dirty="0">
                <a:solidFill>
                  <a:srgbClr val="15203F"/>
                </a:solidFill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6329" y="2708687"/>
            <a:ext cx="5161915" cy="702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45" dirty="0">
                <a:solidFill>
                  <a:srgbClr val="15203F"/>
                </a:solidFill>
                <a:latin typeface="Cambria"/>
                <a:cs typeface="Cambria"/>
              </a:rPr>
              <a:t>Proactive</a:t>
            </a:r>
            <a:r>
              <a:rPr sz="1300" spc="6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00" spc="50" dirty="0">
                <a:solidFill>
                  <a:srgbClr val="15203F"/>
                </a:solidFill>
                <a:latin typeface="Cambria"/>
                <a:cs typeface="Cambria"/>
              </a:rPr>
              <a:t>Monitoring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137500"/>
              </a:lnSpc>
              <a:spcBef>
                <a:spcPts val="465"/>
              </a:spcBef>
            </a:pP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Regularly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monitor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tables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changes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using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specialized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tools.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Proactive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detection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anomalies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key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ethical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responsibility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administrators.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9125" y="3686175"/>
            <a:ext cx="523875" cy="971550"/>
          </a:xfrm>
          <a:custGeom>
            <a:avLst/>
            <a:gdLst/>
            <a:ahLst/>
            <a:cxnLst/>
            <a:rect l="l" t="t" r="r" b="b"/>
            <a:pathLst>
              <a:path w="523875" h="971550">
                <a:moveTo>
                  <a:pt x="261937" y="0"/>
                </a:moveTo>
                <a:lnTo>
                  <a:pt x="223503" y="2833"/>
                </a:lnTo>
                <a:lnTo>
                  <a:pt x="185901" y="11277"/>
                </a:lnTo>
                <a:lnTo>
                  <a:pt x="149943" y="25150"/>
                </a:lnTo>
                <a:lnTo>
                  <a:pt x="116413" y="44145"/>
                </a:lnTo>
                <a:lnTo>
                  <a:pt x="86031" y="67852"/>
                </a:lnTo>
                <a:lnTo>
                  <a:pt x="59456" y="95770"/>
                </a:lnTo>
                <a:lnTo>
                  <a:pt x="37267" y="127274"/>
                </a:lnTo>
                <a:lnTo>
                  <a:pt x="19937" y="161696"/>
                </a:lnTo>
                <a:lnTo>
                  <a:pt x="7851" y="198291"/>
                </a:lnTo>
                <a:lnTo>
                  <a:pt x="1259" y="236258"/>
                </a:lnTo>
                <a:lnTo>
                  <a:pt x="0" y="261937"/>
                </a:lnTo>
                <a:lnTo>
                  <a:pt x="0" y="709612"/>
                </a:lnTo>
                <a:lnTo>
                  <a:pt x="2835" y="748047"/>
                </a:lnTo>
                <a:lnTo>
                  <a:pt x="11281" y="785647"/>
                </a:lnTo>
                <a:lnTo>
                  <a:pt x="25148" y="821605"/>
                </a:lnTo>
                <a:lnTo>
                  <a:pt x="44142" y="855141"/>
                </a:lnTo>
                <a:lnTo>
                  <a:pt x="67854" y="885513"/>
                </a:lnTo>
                <a:lnTo>
                  <a:pt x="95765" y="912088"/>
                </a:lnTo>
                <a:lnTo>
                  <a:pt x="127274" y="934281"/>
                </a:lnTo>
                <a:lnTo>
                  <a:pt x="161696" y="951611"/>
                </a:lnTo>
                <a:lnTo>
                  <a:pt x="198292" y="963701"/>
                </a:lnTo>
                <a:lnTo>
                  <a:pt x="236264" y="970280"/>
                </a:lnTo>
                <a:lnTo>
                  <a:pt x="261937" y="971550"/>
                </a:lnTo>
                <a:lnTo>
                  <a:pt x="268366" y="971471"/>
                </a:lnTo>
                <a:lnTo>
                  <a:pt x="306717" y="967692"/>
                </a:lnTo>
                <a:lnTo>
                  <a:pt x="344104" y="958329"/>
                </a:lnTo>
                <a:lnTo>
                  <a:pt x="379707" y="943585"/>
                </a:lnTo>
                <a:lnTo>
                  <a:pt x="412764" y="923768"/>
                </a:lnTo>
                <a:lnTo>
                  <a:pt x="442551" y="899322"/>
                </a:lnTo>
                <a:lnTo>
                  <a:pt x="468436" y="870759"/>
                </a:lnTo>
                <a:lnTo>
                  <a:pt x="489843" y="838718"/>
                </a:lnTo>
                <a:lnTo>
                  <a:pt x="506325" y="803881"/>
                </a:lnTo>
                <a:lnTo>
                  <a:pt x="517508" y="767005"/>
                </a:lnTo>
                <a:lnTo>
                  <a:pt x="523165" y="728879"/>
                </a:lnTo>
                <a:lnTo>
                  <a:pt x="523875" y="709612"/>
                </a:lnTo>
                <a:lnTo>
                  <a:pt x="523875" y="261937"/>
                </a:lnTo>
                <a:lnTo>
                  <a:pt x="521039" y="223502"/>
                </a:lnTo>
                <a:lnTo>
                  <a:pt x="512593" y="185902"/>
                </a:lnTo>
                <a:lnTo>
                  <a:pt x="498726" y="149942"/>
                </a:lnTo>
                <a:lnTo>
                  <a:pt x="479732" y="116408"/>
                </a:lnTo>
                <a:lnTo>
                  <a:pt x="456020" y="86026"/>
                </a:lnTo>
                <a:lnTo>
                  <a:pt x="428109" y="59461"/>
                </a:lnTo>
                <a:lnTo>
                  <a:pt x="396600" y="37263"/>
                </a:lnTo>
                <a:lnTo>
                  <a:pt x="362178" y="19939"/>
                </a:lnTo>
                <a:lnTo>
                  <a:pt x="325582" y="7848"/>
                </a:lnTo>
                <a:lnTo>
                  <a:pt x="287610" y="1257"/>
                </a:lnTo>
                <a:lnTo>
                  <a:pt x="261937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7612" y="4037806"/>
            <a:ext cx="13271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0" dirty="0">
                <a:solidFill>
                  <a:srgbClr val="15203F"/>
                </a:solidFill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6328" y="3804062"/>
            <a:ext cx="4894580" cy="702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95" dirty="0">
                <a:solidFill>
                  <a:srgbClr val="15203F"/>
                </a:solidFill>
                <a:latin typeface="Cambria"/>
                <a:cs typeface="Cambria"/>
              </a:rPr>
              <a:t>Always</a:t>
            </a:r>
            <a:r>
              <a:rPr sz="1300" spc="5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00" spc="75" dirty="0">
                <a:solidFill>
                  <a:srgbClr val="15203F"/>
                </a:solidFill>
                <a:latin typeface="Cambria"/>
                <a:cs typeface="Cambria"/>
              </a:rPr>
              <a:t>Use</a:t>
            </a:r>
            <a:r>
              <a:rPr sz="1300" spc="5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00" spc="60" dirty="0">
                <a:solidFill>
                  <a:srgbClr val="15203F"/>
                </a:solidFill>
                <a:latin typeface="Cambria"/>
                <a:cs typeface="Cambria"/>
              </a:rPr>
              <a:t>Floating</a:t>
            </a:r>
            <a:r>
              <a:rPr sz="1300" spc="55" dirty="0">
                <a:solidFill>
                  <a:srgbClr val="15203F"/>
                </a:solidFill>
                <a:latin typeface="Cambria"/>
                <a:cs typeface="Cambria"/>
              </a:rPr>
              <a:t> Static</a:t>
            </a:r>
            <a:r>
              <a:rPr sz="1300" spc="5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00" spc="-10" dirty="0">
                <a:solidFill>
                  <a:srgbClr val="15203F"/>
                </a:solidFill>
                <a:latin typeface="Cambria"/>
                <a:cs typeface="Cambria"/>
              </a:rPr>
              <a:t>Routes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137500"/>
              </a:lnSpc>
              <a:spcBef>
                <a:spcPts val="465"/>
              </a:spcBef>
            </a:pP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Implement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floating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routes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as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backups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critical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1000" spc="4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routes.</a:t>
            </a:r>
            <a:r>
              <a:rPr sz="1000" spc="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This</a:t>
            </a:r>
            <a:r>
              <a:rPr sz="1000" spc="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simple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addition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significantly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improves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reliability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00" spc="5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minimizes</a:t>
            </a:r>
            <a:r>
              <a:rPr sz="1000" spc="5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downtime.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125" y="4791075"/>
            <a:ext cx="523875" cy="1181100"/>
          </a:xfrm>
          <a:custGeom>
            <a:avLst/>
            <a:gdLst/>
            <a:ahLst/>
            <a:cxnLst/>
            <a:rect l="l" t="t" r="r" b="b"/>
            <a:pathLst>
              <a:path w="523875" h="1181100">
                <a:moveTo>
                  <a:pt x="261937" y="0"/>
                </a:moveTo>
                <a:lnTo>
                  <a:pt x="223503" y="2833"/>
                </a:lnTo>
                <a:lnTo>
                  <a:pt x="185901" y="11277"/>
                </a:lnTo>
                <a:lnTo>
                  <a:pt x="149943" y="25150"/>
                </a:lnTo>
                <a:lnTo>
                  <a:pt x="116413" y="44145"/>
                </a:lnTo>
                <a:lnTo>
                  <a:pt x="86031" y="67852"/>
                </a:lnTo>
                <a:lnTo>
                  <a:pt x="59456" y="95770"/>
                </a:lnTo>
                <a:lnTo>
                  <a:pt x="37267" y="127274"/>
                </a:lnTo>
                <a:lnTo>
                  <a:pt x="19937" y="161696"/>
                </a:lnTo>
                <a:lnTo>
                  <a:pt x="7851" y="198291"/>
                </a:lnTo>
                <a:lnTo>
                  <a:pt x="1259" y="236270"/>
                </a:lnTo>
                <a:lnTo>
                  <a:pt x="0" y="261937"/>
                </a:lnTo>
                <a:lnTo>
                  <a:pt x="0" y="919163"/>
                </a:lnTo>
                <a:lnTo>
                  <a:pt x="2835" y="957595"/>
                </a:lnTo>
                <a:lnTo>
                  <a:pt x="11281" y="995199"/>
                </a:lnTo>
                <a:lnTo>
                  <a:pt x="25148" y="1031153"/>
                </a:lnTo>
                <a:lnTo>
                  <a:pt x="44142" y="1064688"/>
                </a:lnTo>
                <a:lnTo>
                  <a:pt x="67854" y="1095067"/>
                </a:lnTo>
                <a:lnTo>
                  <a:pt x="95765" y="1121638"/>
                </a:lnTo>
                <a:lnTo>
                  <a:pt x="127274" y="1143833"/>
                </a:lnTo>
                <a:lnTo>
                  <a:pt x="161696" y="1161158"/>
                </a:lnTo>
                <a:lnTo>
                  <a:pt x="198292" y="1173249"/>
                </a:lnTo>
                <a:lnTo>
                  <a:pt x="236264" y="1179836"/>
                </a:lnTo>
                <a:lnTo>
                  <a:pt x="261937" y="1181101"/>
                </a:lnTo>
                <a:lnTo>
                  <a:pt x="268366" y="1181022"/>
                </a:lnTo>
                <a:lnTo>
                  <a:pt x="306717" y="1177242"/>
                </a:lnTo>
                <a:lnTo>
                  <a:pt x="344104" y="1167877"/>
                </a:lnTo>
                <a:lnTo>
                  <a:pt x="379707" y="1153131"/>
                </a:lnTo>
                <a:lnTo>
                  <a:pt x="412764" y="1133314"/>
                </a:lnTo>
                <a:lnTo>
                  <a:pt x="442551" y="1108872"/>
                </a:lnTo>
                <a:lnTo>
                  <a:pt x="468436" y="1080311"/>
                </a:lnTo>
                <a:lnTo>
                  <a:pt x="489843" y="1048269"/>
                </a:lnTo>
                <a:lnTo>
                  <a:pt x="506325" y="1013429"/>
                </a:lnTo>
                <a:lnTo>
                  <a:pt x="517508" y="976552"/>
                </a:lnTo>
                <a:lnTo>
                  <a:pt x="523165" y="938429"/>
                </a:lnTo>
                <a:lnTo>
                  <a:pt x="523875" y="919163"/>
                </a:lnTo>
                <a:lnTo>
                  <a:pt x="523875" y="261937"/>
                </a:lnTo>
                <a:lnTo>
                  <a:pt x="521039" y="223504"/>
                </a:lnTo>
                <a:lnTo>
                  <a:pt x="512593" y="185902"/>
                </a:lnTo>
                <a:lnTo>
                  <a:pt x="498726" y="149942"/>
                </a:lnTo>
                <a:lnTo>
                  <a:pt x="479732" y="116408"/>
                </a:lnTo>
                <a:lnTo>
                  <a:pt x="456020" y="86026"/>
                </a:lnTo>
                <a:lnTo>
                  <a:pt x="428109" y="59461"/>
                </a:lnTo>
                <a:lnTo>
                  <a:pt x="396600" y="37263"/>
                </a:lnTo>
                <a:lnTo>
                  <a:pt x="362178" y="19939"/>
                </a:lnTo>
                <a:lnTo>
                  <a:pt x="325582" y="7848"/>
                </a:lnTo>
                <a:lnTo>
                  <a:pt x="287610" y="1257"/>
                </a:lnTo>
                <a:lnTo>
                  <a:pt x="261937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3742" y="5247482"/>
            <a:ext cx="14033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0" dirty="0">
                <a:solidFill>
                  <a:srgbClr val="15203F"/>
                </a:solidFill>
                <a:latin typeface="Cambria"/>
                <a:cs typeface="Cambria"/>
              </a:rPr>
              <a:t>4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6328" y="4908963"/>
            <a:ext cx="4936490" cy="911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55" dirty="0">
                <a:solidFill>
                  <a:srgbClr val="15203F"/>
                </a:solidFill>
                <a:latin typeface="Cambria"/>
                <a:cs typeface="Cambria"/>
              </a:rPr>
              <a:t>Document</a:t>
            </a:r>
            <a:r>
              <a:rPr sz="1300" spc="7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00" spc="55" dirty="0">
                <a:solidFill>
                  <a:srgbClr val="15203F"/>
                </a:solidFill>
                <a:latin typeface="Cambria"/>
                <a:cs typeface="Cambria"/>
              </a:rPr>
              <a:t>Everything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137500"/>
              </a:lnSpc>
              <a:spcBef>
                <a:spcPts val="465"/>
              </a:spcBef>
            </a:pP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Maintain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comprehensive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documentation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your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infrastructure.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Clear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documentation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enables</a:t>
            </a:r>
            <a:r>
              <a:rPr sz="1000" spc="7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faster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troubleshooting</a:t>
            </a:r>
            <a:r>
              <a:rPr sz="1000" spc="7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significantly</a:t>
            </a:r>
            <a:r>
              <a:rPr sz="1000" spc="7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reduces</a:t>
            </a:r>
            <a:r>
              <a:rPr sz="1000" spc="6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00" spc="7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societal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impact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1000" spc="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5203F"/>
                </a:solidFill>
                <a:latin typeface="Roboto"/>
                <a:cs typeface="Roboto"/>
              </a:rPr>
              <a:t>outages.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3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45" dirty="0"/>
              <a:t>Conclusion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140" dirty="0"/>
              <a:t>Recommendations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466" y="1090294"/>
            <a:ext cx="951357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is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more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than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just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technical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challenge;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it's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critical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function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with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broad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implications.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design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choices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have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profound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ethical,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societal,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environmental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impacts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on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campus.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5" y="14096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54088" y="0"/>
                </a:moveTo>
                <a:lnTo>
                  <a:pt x="12611" y="0"/>
                </a:lnTo>
                <a:lnTo>
                  <a:pt x="10755" y="368"/>
                </a:lnTo>
                <a:lnTo>
                  <a:pt x="0" y="12611"/>
                </a:lnTo>
                <a:lnTo>
                  <a:pt x="0" y="252158"/>
                </a:lnTo>
                <a:lnTo>
                  <a:pt x="0" y="254088"/>
                </a:lnTo>
                <a:lnTo>
                  <a:pt x="12611" y="266700"/>
                </a:lnTo>
                <a:lnTo>
                  <a:pt x="254088" y="266700"/>
                </a:lnTo>
                <a:lnTo>
                  <a:pt x="266700" y="254088"/>
                </a:lnTo>
                <a:lnTo>
                  <a:pt x="266700" y="12611"/>
                </a:lnTo>
                <a:lnTo>
                  <a:pt x="255944" y="368"/>
                </a:lnTo>
                <a:lnTo>
                  <a:pt x="254088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2270" y="1418380"/>
            <a:ext cx="9779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30" dirty="0">
                <a:solidFill>
                  <a:srgbClr val="15203F"/>
                </a:solidFill>
                <a:latin typeface="Cambria"/>
                <a:cs typeface="Cambria"/>
              </a:rPr>
              <a:t>1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5342" y="1432623"/>
            <a:ext cx="5001895" cy="4324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55" dirty="0">
                <a:solidFill>
                  <a:srgbClr val="15203F"/>
                </a:solidFill>
                <a:latin typeface="Cambria"/>
                <a:cs typeface="Cambria"/>
              </a:rPr>
              <a:t>Ethical</a:t>
            </a:r>
            <a:r>
              <a:rPr sz="1150" spc="4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Cambria"/>
                <a:cs typeface="Cambria"/>
              </a:rPr>
              <a:t>Considerations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Ensure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fair,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secure,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reliable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access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users,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upholding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data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integrity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privacy.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9125" y="2124074"/>
            <a:ext cx="266700" cy="257175"/>
          </a:xfrm>
          <a:custGeom>
            <a:avLst/>
            <a:gdLst/>
            <a:ahLst/>
            <a:cxnLst/>
            <a:rect l="l" t="t" r="r" b="b"/>
            <a:pathLst>
              <a:path w="266700" h="257175">
                <a:moveTo>
                  <a:pt x="254088" y="0"/>
                </a:moveTo>
                <a:lnTo>
                  <a:pt x="12611" y="0"/>
                </a:lnTo>
                <a:lnTo>
                  <a:pt x="10755" y="368"/>
                </a:lnTo>
                <a:lnTo>
                  <a:pt x="0" y="12611"/>
                </a:lnTo>
                <a:lnTo>
                  <a:pt x="0" y="242633"/>
                </a:lnTo>
                <a:lnTo>
                  <a:pt x="0" y="244563"/>
                </a:lnTo>
                <a:lnTo>
                  <a:pt x="12611" y="257175"/>
                </a:lnTo>
                <a:lnTo>
                  <a:pt x="254088" y="257175"/>
                </a:lnTo>
                <a:lnTo>
                  <a:pt x="266700" y="244563"/>
                </a:lnTo>
                <a:lnTo>
                  <a:pt x="266700" y="12611"/>
                </a:lnTo>
                <a:lnTo>
                  <a:pt x="255944" y="368"/>
                </a:lnTo>
                <a:lnTo>
                  <a:pt x="254088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0065" y="2132755"/>
            <a:ext cx="12192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50" dirty="0">
                <a:solidFill>
                  <a:srgbClr val="15203F"/>
                </a:solidFill>
                <a:latin typeface="Cambria"/>
                <a:cs typeface="Cambria"/>
              </a:rPr>
              <a:t>2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5340" y="2146998"/>
            <a:ext cx="6193790" cy="4229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45" dirty="0">
                <a:solidFill>
                  <a:srgbClr val="15203F"/>
                </a:solidFill>
                <a:latin typeface="Cambria"/>
                <a:cs typeface="Cambria"/>
              </a:rPr>
              <a:t>Societal</a:t>
            </a:r>
            <a:r>
              <a:rPr sz="1150" spc="5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150" spc="40" dirty="0">
                <a:solidFill>
                  <a:srgbClr val="15203F"/>
                </a:solidFill>
                <a:latin typeface="Cambria"/>
                <a:cs typeface="Cambria"/>
              </a:rPr>
              <a:t>Impact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Recognize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university's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core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academic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research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functions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depend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entirely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on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robust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available network.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9125" y="28289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54088" y="0"/>
                </a:moveTo>
                <a:lnTo>
                  <a:pt x="12611" y="0"/>
                </a:lnTo>
                <a:lnTo>
                  <a:pt x="10755" y="368"/>
                </a:lnTo>
                <a:lnTo>
                  <a:pt x="0" y="12611"/>
                </a:lnTo>
                <a:lnTo>
                  <a:pt x="0" y="252158"/>
                </a:lnTo>
                <a:lnTo>
                  <a:pt x="0" y="254088"/>
                </a:lnTo>
                <a:lnTo>
                  <a:pt x="12611" y="266700"/>
                </a:lnTo>
                <a:lnTo>
                  <a:pt x="254088" y="266700"/>
                </a:lnTo>
                <a:lnTo>
                  <a:pt x="266700" y="254088"/>
                </a:lnTo>
                <a:lnTo>
                  <a:pt x="266700" y="12611"/>
                </a:lnTo>
                <a:lnTo>
                  <a:pt x="255944" y="368"/>
                </a:lnTo>
                <a:lnTo>
                  <a:pt x="254088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1108" y="2837605"/>
            <a:ext cx="120014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50" dirty="0">
                <a:solidFill>
                  <a:srgbClr val="15203F"/>
                </a:solidFill>
                <a:latin typeface="Cambria"/>
                <a:cs typeface="Cambria"/>
              </a:rPr>
              <a:t>3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5342" y="2851848"/>
            <a:ext cx="5631815" cy="4324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50" dirty="0">
                <a:solidFill>
                  <a:srgbClr val="15203F"/>
                </a:solidFill>
                <a:latin typeface="Cambria"/>
                <a:cs typeface="Cambria"/>
              </a:rPr>
              <a:t>Environmental</a:t>
            </a:r>
            <a:r>
              <a:rPr sz="1150" spc="5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Cambria"/>
                <a:cs typeface="Cambria"/>
              </a:rPr>
              <a:t>Footprint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Understand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routing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protocol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choices,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like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vs.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45" dirty="0">
                <a:solidFill>
                  <a:srgbClr val="15203F"/>
                </a:solidFill>
                <a:latin typeface="Roboto"/>
                <a:cs typeface="Roboto"/>
              </a:rPr>
              <a:t>RIP,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directly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affect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network's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energy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consumption.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9125" y="3543300"/>
            <a:ext cx="266700" cy="257175"/>
          </a:xfrm>
          <a:custGeom>
            <a:avLst/>
            <a:gdLst/>
            <a:ahLst/>
            <a:cxnLst/>
            <a:rect l="l" t="t" r="r" b="b"/>
            <a:pathLst>
              <a:path w="266700" h="257175">
                <a:moveTo>
                  <a:pt x="254088" y="0"/>
                </a:moveTo>
                <a:lnTo>
                  <a:pt x="12611" y="0"/>
                </a:lnTo>
                <a:lnTo>
                  <a:pt x="10755" y="368"/>
                </a:lnTo>
                <a:lnTo>
                  <a:pt x="0" y="12611"/>
                </a:lnTo>
                <a:lnTo>
                  <a:pt x="0" y="242633"/>
                </a:lnTo>
                <a:lnTo>
                  <a:pt x="0" y="244563"/>
                </a:lnTo>
                <a:lnTo>
                  <a:pt x="12611" y="257175"/>
                </a:lnTo>
                <a:lnTo>
                  <a:pt x="254088" y="257175"/>
                </a:lnTo>
                <a:lnTo>
                  <a:pt x="266700" y="244563"/>
                </a:lnTo>
                <a:lnTo>
                  <a:pt x="266700" y="12611"/>
                </a:lnTo>
                <a:lnTo>
                  <a:pt x="255944" y="368"/>
                </a:lnTo>
                <a:lnTo>
                  <a:pt x="254088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7684" y="3551980"/>
            <a:ext cx="12700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50" dirty="0">
                <a:solidFill>
                  <a:srgbClr val="15203F"/>
                </a:solidFill>
                <a:latin typeface="Cambria"/>
                <a:cs typeface="Cambria"/>
              </a:rPr>
              <a:t>4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5340" y="3566223"/>
            <a:ext cx="6128385" cy="4229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solidFill>
                  <a:srgbClr val="15203F"/>
                </a:solidFill>
                <a:latin typeface="Cambria"/>
                <a:cs typeface="Cambria"/>
              </a:rPr>
              <a:t>Prioritize</a:t>
            </a:r>
            <a:r>
              <a:rPr sz="1150" spc="27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solidFill>
                  <a:srgbClr val="15203F"/>
                </a:solidFill>
                <a:latin typeface="Cambria"/>
                <a:cs typeface="Cambria"/>
              </a:rPr>
              <a:t>Reliability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Implement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Floating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Routes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all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critical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paths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ensure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continuous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operation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minimize</a:t>
            </a:r>
            <a:r>
              <a:rPr sz="900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downtime.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9125" y="42481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54088" y="0"/>
                </a:moveTo>
                <a:lnTo>
                  <a:pt x="12611" y="0"/>
                </a:lnTo>
                <a:lnTo>
                  <a:pt x="10755" y="368"/>
                </a:lnTo>
                <a:lnTo>
                  <a:pt x="0" y="12611"/>
                </a:lnTo>
                <a:lnTo>
                  <a:pt x="0" y="252158"/>
                </a:lnTo>
                <a:lnTo>
                  <a:pt x="0" y="254088"/>
                </a:lnTo>
                <a:lnTo>
                  <a:pt x="12611" y="266700"/>
                </a:lnTo>
                <a:lnTo>
                  <a:pt x="254088" y="266700"/>
                </a:lnTo>
                <a:lnTo>
                  <a:pt x="266700" y="254088"/>
                </a:lnTo>
                <a:lnTo>
                  <a:pt x="266700" y="12611"/>
                </a:lnTo>
                <a:lnTo>
                  <a:pt x="255944" y="368"/>
                </a:lnTo>
                <a:lnTo>
                  <a:pt x="254088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92150" y="4256830"/>
            <a:ext cx="11747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50" dirty="0">
                <a:solidFill>
                  <a:srgbClr val="15203F"/>
                </a:solidFill>
                <a:latin typeface="Cambria"/>
                <a:cs typeface="Cambria"/>
              </a:rPr>
              <a:t>5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5340" y="4271073"/>
            <a:ext cx="5974080" cy="4324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solidFill>
                  <a:srgbClr val="15203F"/>
                </a:solidFill>
                <a:latin typeface="Cambria"/>
                <a:cs typeface="Cambria"/>
              </a:rPr>
              <a:t>Adopt</a:t>
            </a:r>
            <a:r>
              <a:rPr sz="1150" spc="229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15203F"/>
                </a:solidFill>
                <a:latin typeface="Cambria"/>
                <a:cs typeface="Cambria"/>
              </a:rPr>
              <a:t>Green</a:t>
            </a:r>
            <a:r>
              <a:rPr sz="1150" spc="23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150" spc="35" dirty="0">
                <a:solidFill>
                  <a:srgbClr val="15203F"/>
                </a:solidFill>
                <a:latin typeface="Cambria"/>
                <a:cs typeface="Cambria"/>
              </a:rPr>
              <a:t>Practices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Utilize</a:t>
            </a:r>
            <a:r>
              <a:rPr sz="9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Routes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wherever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segments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are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predictable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significantly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reduce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energy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usage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2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CPU</a:t>
            </a:r>
            <a:r>
              <a:rPr sz="900" spc="-3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load.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9125" y="4962525"/>
            <a:ext cx="266700" cy="257175"/>
          </a:xfrm>
          <a:custGeom>
            <a:avLst/>
            <a:gdLst/>
            <a:ahLst/>
            <a:cxnLst/>
            <a:rect l="l" t="t" r="r" b="b"/>
            <a:pathLst>
              <a:path w="266700" h="257175">
                <a:moveTo>
                  <a:pt x="254088" y="0"/>
                </a:moveTo>
                <a:lnTo>
                  <a:pt x="12611" y="0"/>
                </a:lnTo>
                <a:lnTo>
                  <a:pt x="10755" y="368"/>
                </a:lnTo>
                <a:lnTo>
                  <a:pt x="0" y="12611"/>
                </a:lnTo>
                <a:lnTo>
                  <a:pt x="0" y="242636"/>
                </a:lnTo>
                <a:lnTo>
                  <a:pt x="0" y="244565"/>
                </a:lnTo>
                <a:lnTo>
                  <a:pt x="12611" y="257176"/>
                </a:lnTo>
                <a:lnTo>
                  <a:pt x="254088" y="257176"/>
                </a:lnTo>
                <a:lnTo>
                  <a:pt x="266700" y="244565"/>
                </a:lnTo>
                <a:lnTo>
                  <a:pt x="266700" y="12611"/>
                </a:lnTo>
                <a:lnTo>
                  <a:pt x="255944" y="368"/>
                </a:lnTo>
                <a:lnTo>
                  <a:pt x="254088" y="0"/>
                </a:lnTo>
                <a:close/>
              </a:path>
            </a:pathLst>
          </a:custGeom>
          <a:solidFill>
            <a:srgbClr val="E9E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89471" y="4971205"/>
            <a:ext cx="123189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50" dirty="0">
                <a:solidFill>
                  <a:srgbClr val="15203F"/>
                </a:solidFill>
                <a:latin typeface="Cambria"/>
                <a:cs typeface="Cambria"/>
              </a:rPr>
              <a:t>6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5342" y="4985448"/>
            <a:ext cx="6331585" cy="4229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45" dirty="0">
                <a:solidFill>
                  <a:srgbClr val="15203F"/>
                </a:solidFill>
                <a:latin typeface="Cambria"/>
                <a:cs typeface="Cambria"/>
              </a:rPr>
              <a:t>Monitor</a:t>
            </a:r>
            <a:r>
              <a:rPr sz="1150" spc="35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150" spc="50" dirty="0">
                <a:solidFill>
                  <a:srgbClr val="15203F"/>
                </a:solidFill>
                <a:latin typeface="Cambria"/>
                <a:cs typeface="Cambria"/>
              </a:rPr>
              <a:t>Actively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Implement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proactive monitoring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identify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resolve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issues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swiftly, ensuring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reliable</a:t>
            </a:r>
            <a:r>
              <a:rPr sz="900" spc="-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ethically responsible network.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7453" y="5525515"/>
            <a:ext cx="9870440" cy="38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5"/>
              </a:spcBef>
            </a:pP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Ultimately,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most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effective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network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design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employs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hybrid approach,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strategically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blending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stability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efficiency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static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routes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with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dynamic flexibility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routing </a:t>
            </a:r>
            <a:r>
              <a:rPr sz="900" dirty="0">
                <a:solidFill>
                  <a:srgbClr val="15203F"/>
                </a:solidFill>
                <a:latin typeface="Roboto"/>
                <a:cs typeface="Roboto"/>
              </a:rPr>
              <a:t>protocols</a:t>
            </a:r>
            <a:r>
              <a:rPr sz="900" spc="-15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5203F"/>
                </a:solidFill>
                <a:latin typeface="Roboto"/>
                <a:cs typeface="Roboto"/>
              </a:rPr>
              <a:t>where necessary.</a:t>
            </a:r>
            <a:endParaRPr sz="9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2342</Words>
  <Application>Microsoft Office PowerPoint</Application>
  <PresentationFormat>Custom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Cambria</vt:lpstr>
      <vt:lpstr>Roboto</vt:lpstr>
      <vt:lpstr>Office Theme</vt:lpstr>
      <vt:lpstr>Understanding Static and Dynamic Routing (RIP)</vt:lpstr>
      <vt:lpstr>Network Fundamentals for CSE Routing, Ethics, and Impact</vt:lpstr>
      <vt:lpstr>What is a Campus Network?</vt:lpstr>
      <vt:lpstr>How Does Data Move? The Role of Routing</vt:lpstr>
      <vt:lpstr>Static Routing (The Manual Map)</vt:lpstr>
      <vt:lpstr>Dynamic Routing:(Using RIP)</vt:lpstr>
      <vt:lpstr>The Ethics of Routing: Ensuring Fair Access</vt:lpstr>
      <vt:lpstr>Ethical Risks: The Impact of Misconfiguration</vt:lpstr>
      <vt:lpstr>The University's Digital Lifeline: Impact on Stakeholders</vt:lpstr>
      <vt:lpstr>Societal Impact: What Happens When Routing Fails?</vt:lpstr>
      <vt:lpstr>The "Green" Network: Energy Footprint of Routing</vt:lpstr>
      <vt:lpstr>How Can We Be More `Green`?  Energy Efficient Routing Practices</vt:lpstr>
      <vt:lpstr>Best Practices: Choosing the Right Tool</vt:lpstr>
      <vt:lpstr>Strategies for a Reliable Network</vt:lpstr>
      <vt:lpstr>Conclusion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Naim Parvez</dc:creator>
  <cp:lastModifiedBy>Naim Parvez</cp:lastModifiedBy>
  <cp:revision>3</cp:revision>
  <dcterms:created xsi:type="dcterms:W3CDTF">2025-10-26T05:30:41Z</dcterms:created>
  <dcterms:modified xsi:type="dcterms:W3CDTF">2025-10-26T08:01:39Z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2025-10-26T00:00:00Z</vt:filetime>
  </property>
  <property fmtid="{D5CDD505-2E9C-101B-9397-08002B2CF9AE}" pid="5" name="Producer">
    <vt:lpwstr>GPL Ghostscript 9.56.1</vt:lpwstr>
  </property>
</Properties>
</file>